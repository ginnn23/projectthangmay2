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8" d="100"/>
          <a:sy n="148" d="100"/>
        </p:scale>
        <p:origin x="10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884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731520" y="731520"/>
            <a:ext cx="2926080" cy="365760"/>
          </a:xfrm>
          <a:prstGeom prst="roundRect">
            <a:avLst>
              <a:gd name="adj" fmla="val 25000"/>
            </a:avLst>
          </a:prstGeom>
          <a:solidFill>
            <a:srgbClr val="1E293B"/>
          </a:solidFill>
          <a:ln w="12700">
            <a:solidFill>
              <a:srgbClr val="D97706"/>
            </a:solidFill>
            <a:prstDash val="solid"/>
          </a:ln>
        </p:spPr>
      </p:sp>
      <p:sp>
        <p:nvSpPr>
          <p:cNvPr id="3" name="Text 1"/>
          <p:cNvSpPr/>
          <p:nvPr/>
        </p:nvSpPr>
        <p:spPr>
          <a:xfrm>
            <a:off x="731520" y="731520"/>
            <a:ext cx="2926080" cy="365760"/>
          </a:xfrm>
          <a:prstGeom prst="rect">
            <a:avLst/>
          </a:prstGeom>
          <a:noFill/>
          <a:ln/>
        </p:spPr>
        <p:txBody>
          <a:bodyPr wrap="square" rtlCol="0" anchor="ctr"/>
          <a:lstStyle/>
          <a:p>
            <a:pPr marL="0" indent="0" algn="ctr">
              <a:buNone/>
            </a:pPr>
            <a:r>
              <a:rPr lang="en-US" sz="1100" b="1" dirty="0">
                <a:solidFill>
                  <a:srgbClr val="D97706"/>
                </a:solidFill>
                <a:latin typeface="Arial" pitchFamily="34" charset="0"/>
                <a:ea typeface="Arial" pitchFamily="34" charset="-122"/>
                <a:cs typeface="Arial" pitchFamily="34" charset="-120"/>
              </a:rPr>
              <a:t>BÁO CÁO SEMINAR 1 </a:t>
            </a:r>
            <a:endParaRPr lang="en-US" sz="1100" dirty="0"/>
          </a:p>
        </p:txBody>
      </p:sp>
      <p:sp>
        <p:nvSpPr>
          <p:cNvPr id="4" name="Text 2"/>
          <p:cNvSpPr/>
          <p:nvPr/>
        </p:nvSpPr>
        <p:spPr>
          <a:xfrm>
            <a:off x="731520" y="1280160"/>
            <a:ext cx="10515600" cy="12801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TỔNG QUAN DOANH NGHIỆP &amp;</a:t>
            </a:r>
            <a:endParaRPr lang="en-US" sz="2800" dirty="0"/>
          </a:p>
          <a:p>
            <a:pPr marL="0" indent="0">
              <a:buNone/>
            </a:pPr>
            <a:r>
              <a:rPr lang="en-US" sz="2800" b="1" dirty="0">
                <a:solidFill>
                  <a:srgbClr val="FFFFFF"/>
                </a:solidFill>
                <a:latin typeface="Arial" pitchFamily="34" charset="0"/>
                <a:ea typeface="Arial" pitchFamily="34" charset="-122"/>
                <a:cs typeface="Arial" pitchFamily="34" charset="-120"/>
              </a:rPr>
              <a:t>ĐỊNH HƯỚNG ĐỀ TÀI THỰC TẬP</a:t>
            </a:r>
            <a:endParaRPr lang="en-US" sz="2800" dirty="0"/>
          </a:p>
        </p:txBody>
      </p:sp>
      <p:sp>
        <p:nvSpPr>
          <p:cNvPr id="5" name="Text 3"/>
          <p:cNvSpPr/>
          <p:nvPr/>
        </p:nvSpPr>
        <p:spPr>
          <a:xfrm>
            <a:off x="731520" y="2651760"/>
            <a:ext cx="10515600" cy="640080"/>
          </a:xfrm>
          <a:prstGeom prst="rect">
            <a:avLst/>
          </a:prstGeom>
          <a:noFill/>
          <a:ln/>
        </p:spPr>
        <p:txBody>
          <a:bodyPr wrap="square" rtlCol="0" anchor="ctr"/>
          <a:lstStyle/>
          <a:p>
            <a:pPr marL="0" indent="0">
              <a:buNone/>
            </a:pPr>
            <a:r>
              <a:rPr lang="en-US" sz="1500" i="1" dirty="0">
                <a:solidFill>
                  <a:srgbClr val="38BDF8"/>
                </a:solidFill>
                <a:latin typeface="Arial" pitchFamily="34" charset="0"/>
                <a:ea typeface="Arial" pitchFamily="34" charset="-122"/>
                <a:cs typeface="Arial" pitchFamily="34" charset="-120"/>
              </a:rPr>
              <a:t>Đề tài: “Phát triển và nâng cấp Website Công ty Thang Máy Hà Hồng tích hợp AI và hệ thống dự toán báo giá”</a:t>
            </a:r>
            <a:endParaRPr lang="en-US" sz="1500" dirty="0"/>
          </a:p>
        </p:txBody>
      </p:sp>
      <p:sp>
        <p:nvSpPr>
          <p:cNvPr id="6" name="Shape 4"/>
          <p:cNvSpPr/>
          <p:nvPr/>
        </p:nvSpPr>
        <p:spPr>
          <a:xfrm>
            <a:off x="731520" y="3474720"/>
            <a:ext cx="10515600" cy="18288"/>
          </a:xfrm>
          <a:prstGeom prst="rect">
            <a:avLst/>
          </a:prstGeom>
          <a:solidFill>
            <a:srgbClr val="334155"/>
          </a:solidFill>
          <a:ln w="12700">
            <a:solidFill>
              <a:srgbClr val="334155"/>
            </a:solidFill>
            <a:prstDash val="solid"/>
          </a:ln>
        </p:spPr>
      </p:sp>
      <p:sp>
        <p:nvSpPr>
          <p:cNvPr id="7" name="Shape 5"/>
          <p:cNvSpPr/>
          <p:nvPr/>
        </p:nvSpPr>
        <p:spPr>
          <a:xfrm>
            <a:off x="409548" y="3090672"/>
            <a:ext cx="5029200" cy="2194560"/>
          </a:xfrm>
          <a:prstGeom prst="roundRect">
            <a:avLst>
              <a:gd name="adj" fmla="val 4167"/>
            </a:avLst>
          </a:prstGeom>
          <a:solidFill>
            <a:srgbClr val="1E293B"/>
          </a:solidFill>
          <a:ln w="12700">
            <a:solidFill>
              <a:srgbClr val="334155"/>
            </a:solidFill>
            <a:prstDash val="solid"/>
          </a:ln>
        </p:spPr>
      </p:sp>
      <p:sp>
        <p:nvSpPr>
          <p:cNvPr id="8" name="Text 6"/>
          <p:cNvSpPr/>
          <p:nvPr/>
        </p:nvSpPr>
        <p:spPr>
          <a:xfrm>
            <a:off x="914400" y="4023360"/>
            <a:ext cx="4663440" cy="1828800"/>
          </a:xfrm>
          <a:prstGeom prst="rect">
            <a:avLst/>
          </a:prstGeom>
          <a:noFill/>
          <a:ln/>
        </p:spPr>
        <p:txBody>
          <a:bodyPr wrap="square" rtlCol="0" anchor="ctr"/>
          <a:lstStyle/>
          <a:p>
            <a:pPr marL="0" indent="0">
              <a:buNone/>
            </a:pPr>
            <a:r>
              <a:rPr lang="en-US" sz="1200" b="1" dirty="0">
                <a:solidFill>
                  <a:srgbClr val="D97706"/>
                </a:solidFill>
                <a:latin typeface="Arial" pitchFamily="34" charset="0"/>
                <a:ea typeface="Arial" pitchFamily="34" charset="-122"/>
                <a:cs typeface="Arial" pitchFamily="34" charset="-120"/>
              </a:rPr>
              <a:t>THÔNG TIN SINH VIÊN
</a:t>
            </a:r>
            <a:r>
              <a:rPr lang="en-US" sz="1300" b="1" dirty="0">
                <a:solidFill>
                  <a:srgbClr val="FFFFFF"/>
                </a:solidFill>
                <a:latin typeface="Arial" pitchFamily="34" charset="0"/>
                <a:ea typeface="Arial" pitchFamily="34" charset="-122"/>
                <a:cs typeface="Arial" pitchFamily="34" charset="-120"/>
              </a:rPr>
              <a:t>• Sinh viên: </a:t>
            </a:r>
            <a:r>
              <a:rPr lang="en-US" sz="1300" dirty="0">
                <a:solidFill>
                  <a:srgbClr val="FFFFFF"/>
                </a:solidFill>
                <a:latin typeface="Arial" pitchFamily="34" charset="0"/>
                <a:ea typeface="Arial" pitchFamily="34" charset="-122"/>
                <a:cs typeface="Arial" pitchFamily="34" charset="-120"/>
              </a:rPr>
              <a:t>Phạm Khắc Khải
</a:t>
            </a:r>
            <a:r>
              <a:rPr lang="en-US" sz="1300" b="1" dirty="0">
                <a:solidFill>
                  <a:srgbClr val="FFFFFF"/>
                </a:solidFill>
                <a:latin typeface="Arial" pitchFamily="34" charset="0"/>
                <a:ea typeface="Arial" pitchFamily="34" charset="-122"/>
                <a:cs typeface="Arial" pitchFamily="34" charset="-120"/>
              </a:rPr>
              <a:t>• MSSV: </a:t>
            </a:r>
            <a:r>
              <a:rPr lang="en-US" sz="1300" dirty="0">
                <a:solidFill>
                  <a:srgbClr val="FFFFFF"/>
                </a:solidFill>
                <a:latin typeface="Arial" pitchFamily="34" charset="0"/>
                <a:ea typeface="Arial" pitchFamily="34" charset="-122"/>
                <a:cs typeface="Arial" pitchFamily="34" charset="-120"/>
              </a:rPr>
              <a:t>22-0-20489
</a:t>
            </a:r>
            <a:r>
              <a:rPr lang="en-US" sz="1300" b="1" dirty="0">
                <a:solidFill>
                  <a:srgbClr val="FFFFFF"/>
                </a:solidFill>
                <a:latin typeface="Arial" pitchFamily="34" charset="0"/>
                <a:ea typeface="Arial" pitchFamily="34" charset="-122"/>
                <a:cs typeface="Arial" pitchFamily="34" charset="-120"/>
              </a:rPr>
              <a:t>• Ngành: </a:t>
            </a:r>
            <a:r>
              <a:rPr lang="en-US" sz="1300" dirty="0">
                <a:solidFill>
                  <a:srgbClr val="FFFFFF"/>
                </a:solidFill>
                <a:latin typeface="Arial" pitchFamily="34" charset="0"/>
                <a:ea typeface="Arial" pitchFamily="34" charset="-122"/>
                <a:cs typeface="Arial" pitchFamily="34" charset="-120"/>
              </a:rPr>
              <a:t>Lập trình máy tính
</a:t>
            </a:r>
            <a:r>
              <a:rPr lang="en-US" sz="1300" b="1" dirty="0">
                <a:solidFill>
                  <a:srgbClr val="FFFFFF"/>
                </a:solidFill>
                <a:latin typeface="Arial" pitchFamily="34" charset="0"/>
                <a:ea typeface="Arial" pitchFamily="34" charset="-122"/>
                <a:cs typeface="Arial" pitchFamily="34" charset="-120"/>
              </a:rPr>
              <a:t>• Thời gian: </a:t>
            </a:r>
            <a:r>
              <a:rPr lang="en-US" sz="1300" dirty="0">
                <a:solidFill>
                  <a:srgbClr val="FFFFFF"/>
                </a:solidFill>
                <a:latin typeface="Arial" pitchFamily="34" charset="0"/>
                <a:ea typeface="Arial" pitchFamily="34" charset="-122"/>
                <a:cs typeface="Arial" pitchFamily="34" charset="-120"/>
              </a:rPr>
              <a:t>Tháng 06/2026 – Tháng 11/2026</a:t>
            </a:r>
            <a:endParaRPr lang="en-US" sz="1300" dirty="0"/>
          </a:p>
        </p:txBody>
      </p:sp>
      <p:sp>
        <p:nvSpPr>
          <p:cNvPr id="9" name="Shape 7"/>
          <p:cNvSpPr/>
          <p:nvPr/>
        </p:nvSpPr>
        <p:spPr>
          <a:xfrm>
            <a:off x="6217920" y="3840480"/>
            <a:ext cx="5029200" cy="2194560"/>
          </a:xfrm>
          <a:prstGeom prst="roundRect">
            <a:avLst>
              <a:gd name="adj" fmla="val 4167"/>
            </a:avLst>
          </a:prstGeom>
          <a:solidFill>
            <a:srgbClr val="1E293B"/>
          </a:solidFill>
          <a:ln w="12700">
            <a:solidFill>
              <a:srgbClr val="334155"/>
            </a:solidFill>
            <a:prstDash val="solid"/>
          </a:ln>
        </p:spPr>
      </p:sp>
      <p:sp>
        <p:nvSpPr>
          <p:cNvPr id="10" name="Text 8"/>
          <p:cNvSpPr/>
          <p:nvPr/>
        </p:nvSpPr>
        <p:spPr>
          <a:xfrm>
            <a:off x="6400800" y="4023360"/>
            <a:ext cx="4663440" cy="1828800"/>
          </a:xfrm>
          <a:prstGeom prst="rect">
            <a:avLst/>
          </a:prstGeom>
          <a:noFill/>
          <a:ln/>
        </p:spPr>
        <p:txBody>
          <a:bodyPr wrap="square" rtlCol="0" anchor="ctr"/>
          <a:lstStyle/>
          <a:p>
            <a:pPr marL="0" indent="0">
              <a:buNone/>
            </a:pPr>
            <a:r>
              <a:rPr lang="en-US" sz="1200" b="1" dirty="0">
                <a:solidFill>
                  <a:srgbClr val="D97706"/>
                </a:solidFill>
                <a:latin typeface="Arial" pitchFamily="34" charset="0"/>
                <a:ea typeface="Arial" pitchFamily="34" charset="-122"/>
                <a:cs typeface="Arial" pitchFamily="34" charset="-120"/>
              </a:rPr>
              <a:t>ĐƠN VỊ THỰC TẬP
</a:t>
            </a:r>
            <a:r>
              <a:rPr lang="en-US" sz="1300" b="1" dirty="0">
                <a:solidFill>
                  <a:srgbClr val="FFFFFF"/>
                </a:solidFill>
                <a:latin typeface="Arial" pitchFamily="34" charset="0"/>
                <a:ea typeface="Arial" pitchFamily="34" charset="-122"/>
                <a:cs typeface="Arial" pitchFamily="34" charset="-120"/>
              </a:rPr>
              <a:t>• Đơn vị: </a:t>
            </a:r>
            <a:r>
              <a:rPr lang="en-US" sz="1300" dirty="0">
                <a:solidFill>
                  <a:srgbClr val="FFFFFF"/>
                </a:solidFill>
                <a:latin typeface="Arial" pitchFamily="34" charset="0"/>
                <a:ea typeface="Arial" pitchFamily="34" charset="-122"/>
                <a:cs typeface="Arial" pitchFamily="34" charset="-120"/>
              </a:rPr>
              <a:t>Công ty CP TM DV Thang máy Hà Hồng
</a:t>
            </a:r>
            <a:r>
              <a:rPr lang="en-US" sz="1300" b="1" dirty="0">
                <a:solidFill>
                  <a:srgbClr val="FFFFFF"/>
                </a:solidFill>
                <a:latin typeface="Arial" pitchFamily="34" charset="0"/>
                <a:ea typeface="Arial" pitchFamily="34" charset="-122"/>
                <a:cs typeface="Arial" pitchFamily="34" charset="-120"/>
              </a:rPr>
              <a:t>• Vị trí: </a:t>
            </a:r>
            <a:r>
              <a:rPr lang="en-US" sz="1300" dirty="0">
                <a:solidFill>
                  <a:srgbClr val="FFFFFF"/>
                </a:solidFill>
                <a:latin typeface="Arial" pitchFamily="34" charset="0"/>
                <a:ea typeface="Arial" pitchFamily="34" charset="-122"/>
                <a:cs typeface="Arial" pitchFamily="34" charset="-120"/>
              </a:rPr>
              <a:t>Thực tập sinh Lập trình Web
</a:t>
            </a:r>
            <a:r>
              <a:rPr lang="en-US" sz="1300" b="1" dirty="0">
                <a:solidFill>
                  <a:srgbClr val="FFFFFF"/>
                </a:solidFill>
                <a:latin typeface="Arial" pitchFamily="34" charset="0"/>
                <a:ea typeface="Arial" pitchFamily="34" charset="-122"/>
                <a:cs typeface="Arial" pitchFamily="34" charset="-120"/>
              </a:rPr>
              <a:t>• Bộ phận: </a:t>
            </a:r>
            <a:r>
              <a:rPr lang="en-US" sz="1300" dirty="0">
                <a:solidFill>
                  <a:srgbClr val="FFFFFF"/>
                </a:solidFill>
                <a:latin typeface="Arial" pitchFamily="34" charset="0"/>
                <a:ea typeface="Arial" pitchFamily="34" charset="-122"/>
                <a:cs typeface="Arial" pitchFamily="34" charset="-120"/>
              </a:rPr>
              <a:t>Bộ phận Văn phòng
</a:t>
            </a:r>
            <a:r>
              <a:rPr lang="en-US" sz="1300" b="1" dirty="0">
                <a:solidFill>
                  <a:srgbClr val="FFFFFF"/>
                </a:solidFill>
                <a:latin typeface="Arial" pitchFamily="34" charset="0"/>
                <a:ea typeface="Arial" pitchFamily="34" charset="-122"/>
                <a:cs typeface="Arial" pitchFamily="34" charset="-120"/>
              </a:rPr>
              <a:t>• Website: </a:t>
            </a:r>
            <a:r>
              <a:rPr lang="en-US" sz="1300" dirty="0">
                <a:solidFill>
                  <a:srgbClr val="38BDF8"/>
                </a:solidFill>
                <a:latin typeface="Arial" pitchFamily="34" charset="0"/>
                <a:ea typeface="Arial" pitchFamily="34" charset="-122"/>
                <a:cs typeface="Arial" pitchFamily="34" charset="-120"/>
              </a:rPr>
              <a:t>https://thangmayhahong.xyz</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MỤC LỤC TRÌNH BÀY</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NỘI DUNG BÁO CÁO SEMINAR 1</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731520" y="1554480"/>
            <a:ext cx="5120640" cy="2011680"/>
          </a:xfrm>
          <a:prstGeom prst="roundRect">
            <a:avLst>
              <a:gd name="adj" fmla="val 4545"/>
            </a:avLst>
          </a:prstGeom>
          <a:solidFill>
            <a:srgbClr val="FFFFFF"/>
          </a:solidFill>
          <a:ln w="12700">
            <a:solidFill>
              <a:srgbClr val="E2E8F0"/>
            </a:solidFill>
            <a:prstDash val="solid"/>
          </a:ln>
        </p:spPr>
      </p:sp>
      <p:sp>
        <p:nvSpPr>
          <p:cNvPr id="6" name="Shape 4"/>
          <p:cNvSpPr/>
          <p:nvPr/>
        </p:nvSpPr>
        <p:spPr>
          <a:xfrm>
            <a:off x="1005840" y="1828800"/>
            <a:ext cx="731520" cy="731520"/>
          </a:xfrm>
          <a:prstGeom prst="roundRect">
            <a:avLst>
              <a:gd name="adj" fmla="val 10000"/>
            </a:avLst>
          </a:prstGeom>
          <a:solidFill>
            <a:srgbClr val="EEF2FF"/>
          </a:solidFill>
          <a:ln w="12700">
            <a:solidFill>
              <a:srgbClr val="2563EB"/>
            </a:solidFill>
            <a:prstDash val="solid"/>
          </a:ln>
        </p:spPr>
      </p:sp>
      <p:sp>
        <p:nvSpPr>
          <p:cNvPr id="7" name="Text 5"/>
          <p:cNvSpPr/>
          <p:nvPr/>
        </p:nvSpPr>
        <p:spPr>
          <a:xfrm>
            <a:off x="1005840" y="1828800"/>
            <a:ext cx="731520" cy="731520"/>
          </a:xfrm>
          <a:prstGeom prst="rect">
            <a:avLst/>
          </a:prstGeom>
          <a:noFill/>
          <a:ln/>
        </p:spPr>
        <p:txBody>
          <a:bodyPr wrap="square" rtlCol="0" anchor="ctr"/>
          <a:lstStyle/>
          <a:p>
            <a:pPr marL="0" indent="0" algn="ctr">
              <a:buNone/>
            </a:pPr>
            <a:r>
              <a:rPr lang="en-US" sz="1800" b="1" dirty="0">
                <a:solidFill>
                  <a:srgbClr val="2563EB"/>
                </a:solidFill>
                <a:latin typeface="Arial" pitchFamily="34" charset="0"/>
                <a:ea typeface="Arial" pitchFamily="34" charset="-122"/>
                <a:cs typeface="Arial" pitchFamily="34" charset="-120"/>
              </a:rPr>
              <a:t>01</a:t>
            </a:r>
            <a:endParaRPr lang="en-US" sz="1800" dirty="0"/>
          </a:p>
        </p:txBody>
      </p:sp>
      <p:sp>
        <p:nvSpPr>
          <p:cNvPr id="8" name="Text 6"/>
          <p:cNvSpPr/>
          <p:nvPr/>
        </p:nvSpPr>
        <p:spPr>
          <a:xfrm>
            <a:off x="1920240" y="1828800"/>
            <a:ext cx="3657600" cy="45720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Khảo sát Đơn vị thực tập</a:t>
            </a:r>
            <a:endParaRPr lang="en-US" sz="1500" dirty="0"/>
          </a:p>
        </p:txBody>
      </p:sp>
      <p:sp>
        <p:nvSpPr>
          <p:cNvPr id="9" name="Text 7"/>
          <p:cNvSpPr/>
          <p:nvPr/>
        </p:nvSpPr>
        <p:spPr>
          <a:xfrm>
            <a:off x="1920240" y="2331720"/>
            <a:ext cx="3657600" cy="914400"/>
          </a:xfrm>
          <a:prstGeom prst="rect">
            <a:avLst/>
          </a:prstGeom>
          <a:noFill/>
          <a:ln/>
        </p:spPr>
        <p:txBody>
          <a:bodyPr wrap="square" rtlCol="0" anchor="ctr"/>
          <a:lstStyle/>
          <a:p>
            <a:pPr marL="0" indent="0">
              <a:buNone/>
            </a:pPr>
            <a:r>
              <a:rPr lang="en-US" sz="1200" dirty="0">
                <a:solidFill>
                  <a:srgbClr val="475569"/>
                </a:solidFill>
                <a:latin typeface="Arial" pitchFamily="34" charset="0"/>
                <a:ea typeface="Arial" pitchFamily="34" charset="-122"/>
                <a:cs typeface="Arial" pitchFamily="34" charset="-120"/>
              </a:rPr>
              <a:t>Tổng quan doanh nghiệp, cơ cấu tổ chức &amp; nhiệm vụ thực tập được giao</a:t>
            </a:r>
            <a:endParaRPr lang="en-US" sz="1200" dirty="0"/>
          </a:p>
        </p:txBody>
      </p:sp>
      <p:sp>
        <p:nvSpPr>
          <p:cNvPr id="10" name="Shape 8"/>
          <p:cNvSpPr/>
          <p:nvPr/>
        </p:nvSpPr>
        <p:spPr>
          <a:xfrm>
            <a:off x="6126480" y="1554480"/>
            <a:ext cx="5120640" cy="2011680"/>
          </a:xfrm>
          <a:prstGeom prst="roundRect">
            <a:avLst>
              <a:gd name="adj" fmla="val 4545"/>
            </a:avLst>
          </a:prstGeom>
          <a:solidFill>
            <a:srgbClr val="FFFFFF"/>
          </a:solidFill>
          <a:ln w="12700">
            <a:solidFill>
              <a:srgbClr val="E2E8F0"/>
            </a:solidFill>
            <a:prstDash val="solid"/>
          </a:ln>
        </p:spPr>
      </p:sp>
      <p:sp>
        <p:nvSpPr>
          <p:cNvPr id="11" name="Shape 9"/>
          <p:cNvSpPr/>
          <p:nvPr/>
        </p:nvSpPr>
        <p:spPr>
          <a:xfrm>
            <a:off x="6400800" y="1828800"/>
            <a:ext cx="731520" cy="731520"/>
          </a:xfrm>
          <a:prstGeom prst="roundRect">
            <a:avLst>
              <a:gd name="adj" fmla="val 10000"/>
            </a:avLst>
          </a:prstGeom>
          <a:solidFill>
            <a:srgbClr val="EEF2FF"/>
          </a:solidFill>
          <a:ln w="12700">
            <a:solidFill>
              <a:srgbClr val="2563EB"/>
            </a:solidFill>
            <a:prstDash val="solid"/>
          </a:ln>
        </p:spPr>
      </p:sp>
      <p:sp>
        <p:nvSpPr>
          <p:cNvPr id="12" name="Text 10"/>
          <p:cNvSpPr/>
          <p:nvPr/>
        </p:nvSpPr>
        <p:spPr>
          <a:xfrm>
            <a:off x="6400800" y="1828800"/>
            <a:ext cx="731520" cy="731520"/>
          </a:xfrm>
          <a:prstGeom prst="rect">
            <a:avLst/>
          </a:prstGeom>
          <a:noFill/>
          <a:ln/>
        </p:spPr>
        <p:txBody>
          <a:bodyPr wrap="square" rtlCol="0" anchor="ctr"/>
          <a:lstStyle/>
          <a:p>
            <a:pPr marL="0" indent="0" algn="ctr">
              <a:buNone/>
            </a:pPr>
            <a:r>
              <a:rPr lang="en-US" sz="1800" b="1" dirty="0">
                <a:solidFill>
                  <a:srgbClr val="2563EB"/>
                </a:solidFill>
                <a:latin typeface="Arial" pitchFamily="34" charset="0"/>
                <a:ea typeface="Arial" pitchFamily="34" charset="-122"/>
                <a:cs typeface="Arial" pitchFamily="34" charset="-120"/>
              </a:rPr>
              <a:t>02</a:t>
            </a:r>
            <a:endParaRPr lang="en-US" sz="1800" dirty="0"/>
          </a:p>
        </p:txBody>
      </p:sp>
      <p:sp>
        <p:nvSpPr>
          <p:cNvPr id="13" name="Text 11"/>
          <p:cNvSpPr/>
          <p:nvPr/>
        </p:nvSpPr>
        <p:spPr>
          <a:xfrm>
            <a:off x="7315200" y="1828800"/>
            <a:ext cx="3657600" cy="45720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Khó khăn &amp; Giải pháp hòa nhập</a:t>
            </a:r>
            <a:endParaRPr lang="en-US" sz="1500" dirty="0"/>
          </a:p>
        </p:txBody>
      </p:sp>
      <p:sp>
        <p:nvSpPr>
          <p:cNvPr id="14" name="Text 12"/>
          <p:cNvSpPr/>
          <p:nvPr/>
        </p:nvSpPr>
        <p:spPr>
          <a:xfrm>
            <a:off x="7315200" y="2331720"/>
            <a:ext cx="3657600" cy="914400"/>
          </a:xfrm>
          <a:prstGeom prst="rect">
            <a:avLst/>
          </a:prstGeom>
          <a:noFill/>
          <a:ln/>
        </p:spPr>
        <p:txBody>
          <a:bodyPr wrap="square" rtlCol="0" anchor="ctr"/>
          <a:lstStyle/>
          <a:p>
            <a:pPr marL="0" indent="0">
              <a:buNone/>
            </a:pPr>
            <a:r>
              <a:rPr lang="en-US" sz="1200" dirty="0">
                <a:solidFill>
                  <a:srgbClr val="475569"/>
                </a:solidFill>
                <a:latin typeface="Arial" pitchFamily="34" charset="0"/>
                <a:ea typeface="Arial" pitchFamily="34" charset="-122"/>
                <a:cs typeface="Arial" pitchFamily="34" charset="-120"/>
              </a:rPr>
              <a:t>Các thách thức về công nghệ, môi trường thực tế &amp; cách thích nghi</a:t>
            </a:r>
            <a:endParaRPr lang="en-US" sz="1200" dirty="0"/>
          </a:p>
        </p:txBody>
      </p:sp>
      <p:sp>
        <p:nvSpPr>
          <p:cNvPr id="15" name="Shape 13"/>
          <p:cNvSpPr/>
          <p:nvPr/>
        </p:nvSpPr>
        <p:spPr>
          <a:xfrm>
            <a:off x="731520" y="3840480"/>
            <a:ext cx="5120640" cy="2011680"/>
          </a:xfrm>
          <a:prstGeom prst="roundRect">
            <a:avLst>
              <a:gd name="adj" fmla="val 4545"/>
            </a:avLst>
          </a:prstGeom>
          <a:solidFill>
            <a:srgbClr val="FFFFFF"/>
          </a:solidFill>
          <a:ln w="12700">
            <a:solidFill>
              <a:srgbClr val="E2E8F0"/>
            </a:solidFill>
            <a:prstDash val="solid"/>
          </a:ln>
        </p:spPr>
      </p:sp>
      <p:sp>
        <p:nvSpPr>
          <p:cNvPr id="16" name="Shape 14"/>
          <p:cNvSpPr/>
          <p:nvPr/>
        </p:nvSpPr>
        <p:spPr>
          <a:xfrm>
            <a:off x="1005840" y="4114800"/>
            <a:ext cx="731520" cy="731520"/>
          </a:xfrm>
          <a:prstGeom prst="roundRect">
            <a:avLst>
              <a:gd name="adj" fmla="val 10000"/>
            </a:avLst>
          </a:prstGeom>
          <a:solidFill>
            <a:srgbClr val="EEF2FF"/>
          </a:solidFill>
          <a:ln w="12700">
            <a:solidFill>
              <a:srgbClr val="2563EB"/>
            </a:solidFill>
            <a:prstDash val="solid"/>
          </a:ln>
        </p:spPr>
      </p:sp>
      <p:sp>
        <p:nvSpPr>
          <p:cNvPr id="17" name="Text 15"/>
          <p:cNvSpPr/>
          <p:nvPr/>
        </p:nvSpPr>
        <p:spPr>
          <a:xfrm>
            <a:off x="1005840" y="4114800"/>
            <a:ext cx="731520" cy="731520"/>
          </a:xfrm>
          <a:prstGeom prst="rect">
            <a:avLst/>
          </a:prstGeom>
          <a:noFill/>
          <a:ln/>
        </p:spPr>
        <p:txBody>
          <a:bodyPr wrap="square" rtlCol="0" anchor="ctr"/>
          <a:lstStyle/>
          <a:p>
            <a:pPr marL="0" indent="0" algn="ctr">
              <a:buNone/>
            </a:pPr>
            <a:r>
              <a:rPr lang="en-US" sz="1800" b="1" dirty="0">
                <a:solidFill>
                  <a:srgbClr val="2563EB"/>
                </a:solidFill>
                <a:latin typeface="Arial" pitchFamily="34" charset="0"/>
                <a:ea typeface="Arial" pitchFamily="34" charset="-122"/>
                <a:cs typeface="Arial" pitchFamily="34" charset="-120"/>
              </a:rPr>
              <a:t>03</a:t>
            </a:r>
            <a:endParaRPr lang="en-US" sz="1800" dirty="0"/>
          </a:p>
        </p:txBody>
      </p:sp>
      <p:sp>
        <p:nvSpPr>
          <p:cNvPr id="18" name="Text 16"/>
          <p:cNvSpPr/>
          <p:nvPr/>
        </p:nvSpPr>
        <p:spPr>
          <a:xfrm>
            <a:off x="1920240" y="4114800"/>
            <a:ext cx="3657600" cy="45720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Định hướng Đề tài</a:t>
            </a:r>
            <a:endParaRPr lang="en-US" sz="1500" dirty="0"/>
          </a:p>
        </p:txBody>
      </p:sp>
      <p:sp>
        <p:nvSpPr>
          <p:cNvPr id="19" name="Text 17"/>
          <p:cNvSpPr/>
          <p:nvPr/>
        </p:nvSpPr>
        <p:spPr>
          <a:xfrm>
            <a:off x="1920240" y="4617720"/>
            <a:ext cx="3657600" cy="914400"/>
          </a:xfrm>
          <a:prstGeom prst="rect">
            <a:avLst/>
          </a:prstGeom>
          <a:noFill/>
          <a:ln/>
        </p:spPr>
        <p:txBody>
          <a:bodyPr wrap="square" rtlCol="0" anchor="ctr"/>
          <a:lstStyle/>
          <a:p>
            <a:pPr marL="0" indent="0">
              <a:buNone/>
            </a:pPr>
            <a:r>
              <a:rPr lang="en-US" sz="1200" dirty="0">
                <a:solidFill>
                  <a:srgbClr val="475569"/>
                </a:solidFill>
                <a:latin typeface="Arial" pitchFamily="34" charset="0"/>
                <a:ea typeface="Arial" pitchFamily="34" charset="-122"/>
                <a:cs typeface="Arial" pitchFamily="34" charset="-120"/>
              </a:rPr>
              <a:t>Tên đề tài, mục tiêu, đối tượng &amp; 4 hướng nâng cấp trọng tâm</a:t>
            </a:r>
            <a:endParaRPr lang="en-US" sz="1200" dirty="0"/>
          </a:p>
        </p:txBody>
      </p:sp>
      <p:sp>
        <p:nvSpPr>
          <p:cNvPr id="20" name="Shape 18"/>
          <p:cNvSpPr/>
          <p:nvPr/>
        </p:nvSpPr>
        <p:spPr>
          <a:xfrm>
            <a:off x="6126480" y="3840480"/>
            <a:ext cx="5120640" cy="2011680"/>
          </a:xfrm>
          <a:prstGeom prst="roundRect">
            <a:avLst>
              <a:gd name="adj" fmla="val 4545"/>
            </a:avLst>
          </a:prstGeom>
          <a:solidFill>
            <a:srgbClr val="FFFFFF"/>
          </a:solidFill>
          <a:ln w="12700">
            <a:solidFill>
              <a:srgbClr val="E2E8F0"/>
            </a:solidFill>
            <a:prstDash val="solid"/>
          </a:ln>
        </p:spPr>
      </p:sp>
      <p:sp>
        <p:nvSpPr>
          <p:cNvPr id="21" name="Shape 19"/>
          <p:cNvSpPr/>
          <p:nvPr/>
        </p:nvSpPr>
        <p:spPr>
          <a:xfrm>
            <a:off x="6400800" y="4114800"/>
            <a:ext cx="731520" cy="731520"/>
          </a:xfrm>
          <a:prstGeom prst="roundRect">
            <a:avLst>
              <a:gd name="adj" fmla="val 10000"/>
            </a:avLst>
          </a:prstGeom>
          <a:solidFill>
            <a:srgbClr val="EEF2FF"/>
          </a:solidFill>
          <a:ln w="12700">
            <a:solidFill>
              <a:srgbClr val="2563EB"/>
            </a:solidFill>
            <a:prstDash val="solid"/>
          </a:ln>
        </p:spPr>
      </p:sp>
      <p:sp>
        <p:nvSpPr>
          <p:cNvPr id="22" name="Text 20"/>
          <p:cNvSpPr/>
          <p:nvPr/>
        </p:nvSpPr>
        <p:spPr>
          <a:xfrm>
            <a:off x="6400800" y="4114800"/>
            <a:ext cx="731520" cy="731520"/>
          </a:xfrm>
          <a:prstGeom prst="rect">
            <a:avLst/>
          </a:prstGeom>
          <a:noFill/>
          <a:ln/>
        </p:spPr>
        <p:txBody>
          <a:bodyPr wrap="square" rtlCol="0" anchor="ctr"/>
          <a:lstStyle/>
          <a:p>
            <a:pPr marL="0" indent="0" algn="ctr">
              <a:buNone/>
            </a:pPr>
            <a:r>
              <a:rPr lang="en-US" sz="1800" b="1" dirty="0">
                <a:solidFill>
                  <a:srgbClr val="2563EB"/>
                </a:solidFill>
                <a:latin typeface="Arial" pitchFamily="34" charset="0"/>
                <a:ea typeface="Arial" pitchFamily="34" charset="-122"/>
                <a:cs typeface="Arial" pitchFamily="34" charset="-120"/>
              </a:rPr>
              <a:t>04</a:t>
            </a:r>
            <a:endParaRPr lang="en-US" sz="1800" dirty="0"/>
          </a:p>
        </p:txBody>
      </p:sp>
      <p:sp>
        <p:nvSpPr>
          <p:cNvPr id="23" name="Text 21"/>
          <p:cNvSpPr/>
          <p:nvPr/>
        </p:nvSpPr>
        <p:spPr>
          <a:xfrm>
            <a:off x="7315200" y="4114800"/>
            <a:ext cx="3657600" cy="45720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Kế hoạch thực hiện &amp; Mục lục</a:t>
            </a:r>
            <a:endParaRPr lang="en-US" sz="1500" dirty="0"/>
          </a:p>
        </p:txBody>
      </p:sp>
      <p:sp>
        <p:nvSpPr>
          <p:cNvPr id="24" name="Text 22"/>
          <p:cNvSpPr/>
          <p:nvPr/>
        </p:nvSpPr>
        <p:spPr>
          <a:xfrm>
            <a:off x="7315200" y="4617720"/>
            <a:ext cx="3657600" cy="914400"/>
          </a:xfrm>
          <a:prstGeom prst="rect">
            <a:avLst/>
          </a:prstGeom>
          <a:noFill/>
          <a:ln/>
        </p:spPr>
        <p:txBody>
          <a:bodyPr wrap="square" rtlCol="0" anchor="ctr"/>
          <a:lstStyle/>
          <a:p>
            <a:pPr marL="0" indent="0">
              <a:buNone/>
            </a:pPr>
            <a:r>
              <a:rPr lang="en-US" sz="1200" dirty="0">
                <a:solidFill>
                  <a:srgbClr val="475569"/>
                </a:solidFill>
                <a:latin typeface="Arial" pitchFamily="34" charset="0"/>
                <a:ea typeface="Arial" pitchFamily="34" charset="-122"/>
                <a:cs typeface="Arial" pitchFamily="34" charset="-120"/>
              </a:rPr>
              <a:t>Lộ trình 9 tuần và khung đề cương báo cáo cuối kỳ</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1. KHẢO SÁT DOANH NGHIỆP</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1.1. Giới thiệu Đơn vị thực tập</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731520" y="1463040"/>
            <a:ext cx="5486400" cy="4663440"/>
          </a:xfrm>
          <a:prstGeom prst="roundRect">
            <a:avLst>
              <a:gd name="adj" fmla="val 1961"/>
            </a:avLst>
          </a:prstGeom>
          <a:solidFill>
            <a:srgbClr val="FFFFFF"/>
          </a:solidFill>
          <a:ln w="12700">
            <a:solidFill>
              <a:srgbClr val="E2E8F0"/>
            </a:solidFill>
            <a:prstDash val="solid"/>
          </a:ln>
        </p:spPr>
      </p:sp>
      <p:sp>
        <p:nvSpPr>
          <p:cNvPr id="6" name="Text 4"/>
          <p:cNvSpPr/>
          <p:nvPr/>
        </p:nvSpPr>
        <p:spPr>
          <a:xfrm>
            <a:off x="1005840" y="1645920"/>
            <a:ext cx="4937760" cy="4297680"/>
          </a:xfrm>
          <a:prstGeom prst="rect">
            <a:avLst/>
          </a:prstGeom>
          <a:noFill/>
          <a:ln/>
        </p:spPr>
        <p:txBody>
          <a:bodyPr wrap="square" rtlCol="0" anchor="ctr"/>
          <a:lstStyle/>
          <a:p>
            <a:pPr marL="0" indent="0">
              <a:buNone/>
            </a:pPr>
            <a:r>
              <a:rPr lang="en-US" sz="1400" b="1" dirty="0">
                <a:solidFill>
                  <a:srgbClr val="D97706"/>
                </a:solidFill>
                <a:latin typeface="Arial" pitchFamily="34" charset="0"/>
                <a:ea typeface="Arial" pitchFamily="34" charset="-122"/>
                <a:cs typeface="Arial" pitchFamily="34" charset="-120"/>
              </a:rPr>
              <a:t>CÔNG TY CP TM DV THANG MÁY HÀ HỒNG
</a:t>
            </a:r>
            <a:r>
              <a:rPr lang="en-US" sz="1200" b="1" dirty="0">
                <a:solidFill>
                  <a:srgbClr val="1E293B"/>
                </a:solidFill>
                <a:latin typeface="Arial" pitchFamily="34" charset="0"/>
                <a:ea typeface="Arial" pitchFamily="34" charset="-122"/>
                <a:cs typeface="Arial" pitchFamily="34" charset="-120"/>
              </a:rPr>
              <a:t>• Tên tiếng Anh: </a:t>
            </a:r>
            <a:r>
              <a:rPr lang="en-US" sz="1200" dirty="0">
                <a:solidFill>
                  <a:srgbClr val="475569"/>
                </a:solidFill>
                <a:latin typeface="Arial" pitchFamily="34" charset="0"/>
                <a:ea typeface="Arial" pitchFamily="34" charset="-122"/>
                <a:cs typeface="Arial" pitchFamily="34" charset="-120"/>
              </a:rPr>
              <a:t>HA HONG LIFT TRADING - SERVICE CORP
</a:t>
            </a:r>
            <a:r>
              <a:rPr lang="en-US" sz="1200" b="1" dirty="0">
                <a:solidFill>
                  <a:srgbClr val="1E293B"/>
                </a:solidFill>
                <a:latin typeface="Arial" pitchFamily="34" charset="0"/>
                <a:ea typeface="Arial" pitchFamily="34" charset="-122"/>
                <a:cs typeface="Arial" pitchFamily="34" charset="-120"/>
              </a:rPr>
              <a:t>• Mã số thuế: </a:t>
            </a:r>
            <a:r>
              <a:rPr lang="en-US" sz="1200" dirty="0">
                <a:solidFill>
                  <a:srgbClr val="475569"/>
                </a:solidFill>
                <a:latin typeface="Arial" pitchFamily="34" charset="0"/>
                <a:ea typeface="Arial" pitchFamily="34" charset="-122"/>
                <a:cs typeface="Arial" pitchFamily="34" charset="-120"/>
              </a:rPr>
              <a:t>0313908417
</a:t>
            </a:r>
            <a:r>
              <a:rPr lang="en-US" sz="1200" b="1" dirty="0">
                <a:solidFill>
                  <a:srgbClr val="1E293B"/>
                </a:solidFill>
                <a:latin typeface="Arial" pitchFamily="34" charset="0"/>
                <a:ea typeface="Arial" pitchFamily="34" charset="-122"/>
                <a:cs typeface="Arial" pitchFamily="34" charset="-120"/>
              </a:rPr>
              <a:t>• Địa chỉ: </a:t>
            </a:r>
            <a:r>
              <a:rPr lang="en-US" sz="1200" dirty="0">
                <a:solidFill>
                  <a:srgbClr val="475569"/>
                </a:solidFill>
                <a:latin typeface="Arial" pitchFamily="34" charset="0"/>
                <a:ea typeface="Arial" pitchFamily="34" charset="-122"/>
                <a:cs typeface="Arial" pitchFamily="34" charset="-120"/>
              </a:rPr>
              <a:t>168/4 ấp Thới Tây 2, Xã Tân Hiệp, Huyện Hóc Môn, TP. Hồ Chí Minh
</a:t>
            </a:r>
            <a:r>
              <a:rPr lang="en-US" sz="1200" b="1" dirty="0">
                <a:solidFill>
                  <a:srgbClr val="1E293B"/>
                </a:solidFill>
                <a:latin typeface="Arial" pitchFamily="34" charset="0"/>
                <a:ea typeface="Arial" pitchFamily="34" charset="-122"/>
                <a:cs typeface="Arial" pitchFamily="34" charset="-120"/>
              </a:rPr>
              <a:t>• Hotline: </a:t>
            </a:r>
            <a:r>
              <a:rPr lang="en-US" sz="1200" dirty="0">
                <a:solidFill>
                  <a:srgbClr val="475569"/>
                </a:solidFill>
                <a:latin typeface="Arial" pitchFamily="34" charset="0"/>
                <a:ea typeface="Arial" pitchFamily="34" charset="-122"/>
                <a:cs typeface="Arial" pitchFamily="34" charset="-120"/>
              </a:rPr>
              <a:t>0909 9333 58
</a:t>
            </a:r>
            <a:r>
              <a:rPr lang="en-US" sz="1200" b="1" dirty="0">
                <a:solidFill>
                  <a:srgbClr val="1E293B"/>
                </a:solidFill>
                <a:latin typeface="Arial" pitchFamily="34" charset="0"/>
                <a:ea typeface="Arial" pitchFamily="34" charset="-122"/>
                <a:cs typeface="Arial" pitchFamily="34" charset="-120"/>
              </a:rPr>
              <a:t>• Website chính thức: </a:t>
            </a:r>
            <a:r>
              <a:rPr lang="en-US" sz="1200" b="1" dirty="0">
                <a:solidFill>
                  <a:srgbClr val="2563EB"/>
                </a:solidFill>
                <a:latin typeface="Arial" pitchFamily="34" charset="0"/>
                <a:ea typeface="Arial" pitchFamily="34" charset="-122"/>
                <a:cs typeface="Arial" pitchFamily="34" charset="-120"/>
              </a:rPr>
              <a:t>https://thangmayhahong.xyz/
</a:t>
            </a:r>
            <a:r>
              <a:rPr lang="en-US" sz="1200" b="1" dirty="0">
                <a:solidFill>
                  <a:srgbClr val="1E293B"/>
                </a:solidFill>
                <a:latin typeface="Arial" pitchFamily="34" charset="0"/>
                <a:ea typeface="Arial" pitchFamily="34" charset="-122"/>
                <a:cs typeface="Arial" pitchFamily="34" charset="-120"/>
              </a:rPr>
              <a:t>• Vị trí thực tập: </a:t>
            </a:r>
            <a:r>
              <a:rPr lang="en-US" sz="1200" dirty="0">
                <a:solidFill>
                  <a:srgbClr val="475569"/>
                </a:solidFill>
                <a:latin typeface="Arial" pitchFamily="34" charset="0"/>
                <a:ea typeface="Arial" pitchFamily="34" charset="-122"/>
                <a:cs typeface="Arial" pitchFamily="34" charset="-120"/>
              </a:rPr>
              <a:t>Thực tập sinh Lập trình Web
</a:t>
            </a:r>
            <a:r>
              <a:rPr lang="en-US" sz="1200" b="1" dirty="0">
                <a:solidFill>
                  <a:srgbClr val="1E293B"/>
                </a:solidFill>
                <a:latin typeface="Arial" pitchFamily="34" charset="0"/>
                <a:ea typeface="Arial" pitchFamily="34" charset="-122"/>
                <a:cs typeface="Arial" pitchFamily="34" charset="-120"/>
              </a:rPr>
              <a:t>• Bộ phận: </a:t>
            </a:r>
            <a:r>
              <a:rPr lang="en-US" sz="1200" dirty="0">
                <a:solidFill>
                  <a:srgbClr val="475569"/>
                </a:solidFill>
                <a:latin typeface="Arial" pitchFamily="34" charset="0"/>
                <a:ea typeface="Arial" pitchFamily="34" charset="-122"/>
                <a:cs typeface="Arial" pitchFamily="34" charset="-120"/>
              </a:rPr>
              <a:t>Bộ phận Văn phòng</a:t>
            </a:r>
            <a:endParaRPr lang="en-US" sz="1200" dirty="0"/>
          </a:p>
        </p:txBody>
      </p:sp>
      <p:sp>
        <p:nvSpPr>
          <p:cNvPr id="7" name="Shape 5"/>
          <p:cNvSpPr/>
          <p:nvPr/>
        </p:nvSpPr>
        <p:spPr>
          <a:xfrm>
            <a:off x="6492240" y="1463040"/>
            <a:ext cx="4937760" cy="2194560"/>
          </a:xfrm>
          <a:prstGeom prst="roundRect">
            <a:avLst>
              <a:gd name="adj" fmla="val 4167"/>
            </a:avLst>
          </a:prstGeom>
          <a:solidFill>
            <a:srgbClr val="FFFFFF"/>
          </a:solidFill>
          <a:ln w="12700">
            <a:solidFill>
              <a:srgbClr val="E2E8F0"/>
            </a:solidFill>
            <a:prstDash val="solid"/>
          </a:ln>
        </p:spPr>
      </p:sp>
      <p:sp>
        <p:nvSpPr>
          <p:cNvPr id="8" name="Text 6"/>
          <p:cNvSpPr/>
          <p:nvPr/>
        </p:nvSpPr>
        <p:spPr>
          <a:xfrm>
            <a:off x="6675120" y="1645920"/>
            <a:ext cx="4572000" cy="1828800"/>
          </a:xfrm>
          <a:prstGeom prst="rect">
            <a:avLst/>
          </a:prstGeom>
          <a:noFill/>
          <a:ln/>
        </p:spPr>
        <p:txBody>
          <a:bodyPr wrap="square" rtlCol="0" anchor="ctr"/>
          <a:lstStyle/>
          <a:p>
            <a:pPr marL="0" indent="0">
              <a:buNone/>
            </a:pPr>
            <a:r>
              <a:rPr lang="en-US" sz="1300" b="1" dirty="0">
                <a:solidFill>
                  <a:srgbClr val="2563EB"/>
                </a:solidFill>
                <a:latin typeface="Arial" pitchFamily="34" charset="0"/>
                <a:ea typeface="Arial" pitchFamily="34" charset="-122"/>
                <a:cs typeface="Arial" pitchFamily="34" charset="-120"/>
              </a:rPr>
              <a:t>LĨNH VỰC HOẠT ĐỘNG CHÍNH
</a:t>
            </a:r>
            <a:r>
              <a:rPr lang="en-US" sz="1150" dirty="0">
                <a:solidFill>
                  <a:srgbClr val="475569"/>
                </a:solidFill>
                <a:latin typeface="Arial" pitchFamily="34" charset="0"/>
                <a:ea typeface="Arial" pitchFamily="34" charset="-122"/>
                <a:cs typeface="Arial" pitchFamily="34" charset="-120"/>
              </a:rPr>
              <a:t>✔ Tư vấn, thiết kế và thi công thang máy gia đình, homelift, thang kính panorama.
✔ Cung cấp thiết bị điều khiển Fuji, Mitsubishi, Montanari chính hãng.
✔ Dịch vụ bảo trì định kỳ, sửa chữa khẩn cấp và cải tạo nâng cấp thang máy.</a:t>
            </a:r>
            <a:endParaRPr lang="en-US" sz="1150" dirty="0"/>
          </a:p>
        </p:txBody>
      </p:sp>
      <p:sp>
        <p:nvSpPr>
          <p:cNvPr id="9" name="Shape 7"/>
          <p:cNvSpPr/>
          <p:nvPr/>
        </p:nvSpPr>
        <p:spPr>
          <a:xfrm>
            <a:off x="6492240" y="3931920"/>
            <a:ext cx="4937760" cy="2194560"/>
          </a:xfrm>
          <a:prstGeom prst="roundRect">
            <a:avLst>
              <a:gd name="adj" fmla="val 4167"/>
            </a:avLst>
          </a:prstGeom>
          <a:solidFill>
            <a:srgbClr val="EFF6FF"/>
          </a:solidFill>
          <a:ln w="12700">
            <a:solidFill>
              <a:srgbClr val="BFDBFE"/>
            </a:solidFill>
            <a:prstDash val="solid"/>
          </a:ln>
        </p:spPr>
      </p:sp>
      <p:sp>
        <p:nvSpPr>
          <p:cNvPr id="10" name="Text 8"/>
          <p:cNvSpPr/>
          <p:nvPr/>
        </p:nvSpPr>
        <p:spPr>
          <a:xfrm>
            <a:off x="6675120" y="4114800"/>
            <a:ext cx="4572000" cy="1828800"/>
          </a:xfrm>
          <a:prstGeom prst="rect">
            <a:avLst/>
          </a:prstGeom>
          <a:noFill/>
          <a:ln/>
        </p:spPr>
        <p:txBody>
          <a:bodyPr wrap="square" rtlCol="0" anchor="ctr"/>
          <a:lstStyle/>
          <a:p>
            <a:pPr marL="0" indent="0">
              <a:buNone/>
            </a:pPr>
            <a:r>
              <a:rPr lang="en-US" sz="1300" b="1" dirty="0">
                <a:solidFill>
                  <a:srgbClr val="2563EB"/>
                </a:solidFill>
                <a:latin typeface="Arial" pitchFamily="34" charset="0"/>
                <a:ea typeface="Arial" pitchFamily="34" charset="-122"/>
                <a:cs typeface="Arial" pitchFamily="34" charset="-120"/>
              </a:rPr>
              <a:t>VAI TRÒ CỦA HỆ THỐNG WEBSITE
</a:t>
            </a:r>
            <a:r>
              <a:rPr lang="en-US" sz="1150" dirty="0">
                <a:solidFill>
                  <a:srgbClr val="1E293B"/>
                </a:solidFill>
                <a:latin typeface="Arial" pitchFamily="34" charset="0"/>
                <a:ea typeface="Arial" pitchFamily="34" charset="-122"/>
                <a:cs typeface="Arial" pitchFamily="34" charset="-120"/>
              </a:rPr>
              <a:t>• Kênh hiện diện thương hiệu số hàng đầu của công ty trên Internet.
• Công cụ tư vấn kỹ thuật thông minh tự động 24/7 (AI Chatbot).
• Giúp khách hàng chủ động tính toán kích thước hố thang và dự toán chi phí.</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1. KHẢO SÁT DOANH NGHIỆP</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1.2. Cơ cấu tổ chức &amp; Vị trí thực tập</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3931920" y="1554480"/>
            <a:ext cx="3840480" cy="914400"/>
          </a:xfrm>
          <a:prstGeom prst="roundRect">
            <a:avLst>
              <a:gd name="adj" fmla="val 10000"/>
            </a:avLst>
          </a:prstGeom>
          <a:solidFill>
            <a:srgbClr val="0F172A"/>
          </a:solidFill>
          <a:ln w="25400">
            <a:solidFill>
              <a:srgbClr val="D97706"/>
            </a:solidFill>
            <a:prstDash val="solid"/>
          </a:ln>
        </p:spPr>
      </p:sp>
      <p:sp>
        <p:nvSpPr>
          <p:cNvPr id="6" name="Text 4"/>
          <p:cNvSpPr/>
          <p:nvPr/>
        </p:nvSpPr>
        <p:spPr>
          <a:xfrm>
            <a:off x="3931920" y="1554480"/>
            <a:ext cx="3840480" cy="9144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BAN GIÁM ĐỐC</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(Điều hành chiến lược &amp; Quản lý chung)</a:t>
            </a:r>
            <a:endParaRPr lang="en-US" sz="1300" dirty="0"/>
          </a:p>
        </p:txBody>
      </p:sp>
      <p:sp>
        <p:nvSpPr>
          <p:cNvPr id="7" name="Shape 5"/>
          <p:cNvSpPr/>
          <p:nvPr/>
        </p:nvSpPr>
        <p:spPr>
          <a:xfrm>
            <a:off x="5806440" y="2468880"/>
            <a:ext cx="45720" cy="457200"/>
          </a:xfrm>
          <a:prstGeom prst="rect">
            <a:avLst/>
          </a:prstGeom>
          <a:solidFill>
            <a:srgbClr val="94A3B8"/>
          </a:solidFill>
          <a:ln w="12700">
            <a:solidFill>
              <a:srgbClr val="94A3B8"/>
            </a:solidFill>
            <a:prstDash val="solid"/>
          </a:ln>
        </p:spPr>
      </p:sp>
      <p:sp>
        <p:nvSpPr>
          <p:cNvPr id="8" name="Shape 6"/>
          <p:cNvSpPr/>
          <p:nvPr/>
        </p:nvSpPr>
        <p:spPr>
          <a:xfrm>
            <a:off x="2011680" y="2926080"/>
            <a:ext cx="7680960" cy="36576"/>
          </a:xfrm>
          <a:prstGeom prst="rect">
            <a:avLst/>
          </a:prstGeom>
          <a:solidFill>
            <a:srgbClr val="94A3B8"/>
          </a:solidFill>
          <a:ln w="12700">
            <a:solidFill>
              <a:srgbClr val="94A3B8"/>
            </a:solidFill>
            <a:prstDash val="solid"/>
          </a:ln>
        </p:spPr>
      </p:sp>
      <p:sp>
        <p:nvSpPr>
          <p:cNvPr id="9" name="Shape 7"/>
          <p:cNvSpPr/>
          <p:nvPr/>
        </p:nvSpPr>
        <p:spPr>
          <a:xfrm>
            <a:off x="2194560" y="2926080"/>
            <a:ext cx="36576" cy="365760"/>
          </a:xfrm>
          <a:prstGeom prst="rect">
            <a:avLst/>
          </a:prstGeom>
          <a:solidFill>
            <a:srgbClr val="94A3B8"/>
          </a:solidFill>
          <a:ln w="12700">
            <a:solidFill>
              <a:srgbClr val="94A3B8"/>
            </a:solidFill>
            <a:prstDash val="solid"/>
          </a:ln>
        </p:spPr>
      </p:sp>
      <p:sp>
        <p:nvSpPr>
          <p:cNvPr id="10" name="Shape 8"/>
          <p:cNvSpPr/>
          <p:nvPr/>
        </p:nvSpPr>
        <p:spPr>
          <a:xfrm>
            <a:off x="731520" y="3291840"/>
            <a:ext cx="2926080" cy="1828800"/>
          </a:xfrm>
          <a:prstGeom prst="roundRect">
            <a:avLst>
              <a:gd name="adj" fmla="val 5000"/>
            </a:avLst>
          </a:prstGeom>
          <a:solidFill>
            <a:srgbClr val="FFFFFF"/>
          </a:solidFill>
          <a:ln w="12700">
            <a:solidFill>
              <a:srgbClr val="E2E8F0"/>
            </a:solidFill>
            <a:prstDash val="solid"/>
          </a:ln>
        </p:spPr>
      </p:sp>
      <p:sp>
        <p:nvSpPr>
          <p:cNvPr id="11" name="Text 9"/>
          <p:cNvSpPr/>
          <p:nvPr/>
        </p:nvSpPr>
        <p:spPr>
          <a:xfrm>
            <a:off x="731520" y="3383280"/>
            <a:ext cx="2926080" cy="365760"/>
          </a:xfrm>
          <a:prstGeom prst="rect">
            <a:avLst/>
          </a:prstGeom>
          <a:noFill/>
          <a:ln/>
        </p:spPr>
        <p:txBody>
          <a:bodyPr wrap="square" rtlCol="0" anchor="ctr"/>
          <a:lstStyle/>
          <a:p>
            <a:pPr marL="0" indent="0" algn="ctr">
              <a:buNone/>
            </a:pPr>
            <a:r>
              <a:rPr lang="en-US" sz="1200" b="1" dirty="0">
                <a:solidFill>
                  <a:srgbClr val="1E293B"/>
                </a:solidFill>
                <a:latin typeface="Arial" pitchFamily="34" charset="0"/>
                <a:ea typeface="Arial" pitchFamily="34" charset="-122"/>
                <a:cs typeface="Arial" pitchFamily="34" charset="-120"/>
              </a:rPr>
              <a:t>BỘ PHẬN LẮP ĐẶT</a:t>
            </a:r>
            <a:endParaRPr lang="en-US" sz="1200" dirty="0"/>
          </a:p>
        </p:txBody>
      </p:sp>
      <p:sp>
        <p:nvSpPr>
          <p:cNvPr id="12" name="Text 10"/>
          <p:cNvSpPr/>
          <p:nvPr/>
        </p:nvSpPr>
        <p:spPr>
          <a:xfrm>
            <a:off x="914400" y="3840480"/>
            <a:ext cx="2560320" cy="1097280"/>
          </a:xfrm>
          <a:prstGeom prst="rect">
            <a:avLst/>
          </a:prstGeom>
          <a:noFill/>
          <a:ln/>
        </p:spPr>
        <p:txBody>
          <a:bodyPr wrap="square" rtlCol="0" anchor="ctr"/>
          <a:lstStyle/>
          <a:p>
            <a:pPr marL="0" indent="0" algn="ctr">
              <a:buNone/>
            </a:pPr>
            <a:r>
              <a:rPr lang="en-US" sz="1100" dirty="0">
                <a:solidFill>
                  <a:srgbClr val="475569"/>
                </a:solidFill>
                <a:latin typeface="Arial" pitchFamily="34" charset="0"/>
                <a:ea typeface="Arial" pitchFamily="34" charset="-122"/>
                <a:cs typeface="Arial" pitchFamily="34" charset="-120"/>
              </a:rPr>
              <a:t>Triển khai &amp; thi công lắp đặt thang máy tại các công trình thực tế.</a:t>
            </a:r>
            <a:endParaRPr lang="en-US" sz="1100" dirty="0"/>
          </a:p>
        </p:txBody>
      </p:sp>
      <p:sp>
        <p:nvSpPr>
          <p:cNvPr id="13" name="Shape 11"/>
          <p:cNvSpPr/>
          <p:nvPr/>
        </p:nvSpPr>
        <p:spPr>
          <a:xfrm>
            <a:off x="5943600" y="2926080"/>
            <a:ext cx="36576" cy="365760"/>
          </a:xfrm>
          <a:prstGeom prst="rect">
            <a:avLst/>
          </a:prstGeom>
          <a:solidFill>
            <a:srgbClr val="94A3B8"/>
          </a:solidFill>
          <a:ln w="12700">
            <a:solidFill>
              <a:srgbClr val="94A3B8"/>
            </a:solidFill>
            <a:prstDash val="solid"/>
          </a:ln>
        </p:spPr>
      </p:sp>
      <p:sp>
        <p:nvSpPr>
          <p:cNvPr id="14" name="Shape 12"/>
          <p:cNvSpPr/>
          <p:nvPr/>
        </p:nvSpPr>
        <p:spPr>
          <a:xfrm>
            <a:off x="4480560" y="3291840"/>
            <a:ext cx="2926080" cy="1828800"/>
          </a:xfrm>
          <a:prstGeom prst="roundRect">
            <a:avLst>
              <a:gd name="adj" fmla="val 5000"/>
            </a:avLst>
          </a:prstGeom>
          <a:solidFill>
            <a:srgbClr val="FFFFFF"/>
          </a:solidFill>
          <a:ln w="12700">
            <a:solidFill>
              <a:srgbClr val="E2E8F0"/>
            </a:solidFill>
            <a:prstDash val="solid"/>
          </a:ln>
        </p:spPr>
      </p:sp>
      <p:sp>
        <p:nvSpPr>
          <p:cNvPr id="15" name="Text 13"/>
          <p:cNvSpPr/>
          <p:nvPr/>
        </p:nvSpPr>
        <p:spPr>
          <a:xfrm>
            <a:off x="4480560" y="3383280"/>
            <a:ext cx="2926080" cy="365760"/>
          </a:xfrm>
          <a:prstGeom prst="rect">
            <a:avLst/>
          </a:prstGeom>
          <a:noFill/>
          <a:ln/>
        </p:spPr>
        <p:txBody>
          <a:bodyPr wrap="square" rtlCol="0" anchor="ctr"/>
          <a:lstStyle/>
          <a:p>
            <a:pPr marL="0" indent="0" algn="ctr">
              <a:buNone/>
            </a:pPr>
            <a:r>
              <a:rPr lang="en-US" sz="1200" b="1" dirty="0">
                <a:solidFill>
                  <a:srgbClr val="1E293B"/>
                </a:solidFill>
                <a:latin typeface="Arial" pitchFamily="34" charset="0"/>
                <a:ea typeface="Arial" pitchFamily="34" charset="-122"/>
                <a:cs typeface="Arial" pitchFamily="34" charset="-120"/>
              </a:rPr>
              <a:t>BỘ PHẬN BẢO TRÌ</a:t>
            </a:r>
            <a:endParaRPr lang="en-US" sz="1200" dirty="0"/>
          </a:p>
        </p:txBody>
      </p:sp>
      <p:sp>
        <p:nvSpPr>
          <p:cNvPr id="16" name="Text 14"/>
          <p:cNvSpPr/>
          <p:nvPr/>
        </p:nvSpPr>
        <p:spPr>
          <a:xfrm>
            <a:off x="4663440" y="3840480"/>
            <a:ext cx="2560320" cy="1097280"/>
          </a:xfrm>
          <a:prstGeom prst="rect">
            <a:avLst/>
          </a:prstGeom>
          <a:noFill/>
          <a:ln/>
        </p:spPr>
        <p:txBody>
          <a:bodyPr wrap="square" rtlCol="0" anchor="ctr"/>
          <a:lstStyle/>
          <a:p>
            <a:pPr marL="0" indent="0" algn="ctr">
              <a:buNone/>
            </a:pPr>
            <a:r>
              <a:rPr lang="en-US" sz="1100" dirty="0">
                <a:solidFill>
                  <a:srgbClr val="475569"/>
                </a:solidFill>
                <a:latin typeface="Arial" pitchFamily="34" charset="0"/>
                <a:ea typeface="Arial" pitchFamily="34" charset="-122"/>
                <a:cs typeface="Arial" pitchFamily="34" charset="-120"/>
              </a:rPr>
              <a:t>Kiểm tra định kỳ, bảo dưỡng và xử lý sự cố kỹ thuật 24/7.</a:t>
            </a:r>
            <a:endParaRPr lang="en-US" sz="1100" dirty="0"/>
          </a:p>
        </p:txBody>
      </p:sp>
      <p:sp>
        <p:nvSpPr>
          <p:cNvPr id="17" name="Shape 15"/>
          <p:cNvSpPr/>
          <p:nvPr/>
        </p:nvSpPr>
        <p:spPr>
          <a:xfrm>
            <a:off x="9692640" y="2926080"/>
            <a:ext cx="36576" cy="365760"/>
          </a:xfrm>
          <a:prstGeom prst="rect">
            <a:avLst/>
          </a:prstGeom>
          <a:solidFill>
            <a:srgbClr val="94A3B8"/>
          </a:solidFill>
          <a:ln w="12700">
            <a:solidFill>
              <a:srgbClr val="94A3B8"/>
            </a:solidFill>
            <a:prstDash val="solid"/>
          </a:ln>
        </p:spPr>
      </p:sp>
      <p:sp>
        <p:nvSpPr>
          <p:cNvPr id="18" name="Shape 16"/>
          <p:cNvSpPr/>
          <p:nvPr/>
        </p:nvSpPr>
        <p:spPr>
          <a:xfrm>
            <a:off x="8229600" y="3291840"/>
            <a:ext cx="2926080" cy="1828800"/>
          </a:xfrm>
          <a:prstGeom prst="roundRect">
            <a:avLst>
              <a:gd name="adj" fmla="val 5000"/>
            </a:avLst>
          </a:prstGeom>
          <a:solidFill>
            <a:srgbClr val="EFF6FF"/>
          </a:solidFill>
          <a:ln w="25400">
            <a:solidFill>
              <a:srgbClr val="2563EB"/>
            </a:solidFill>
            <a:prstDash val="solid"/>
          </a:ln>
        </p:spPr>
      </p:sp>
      <p:sp>
        <p:nvSpPr>
          <p:cNvPr id="19" name="Text 17"/>
          <p:cNvSpPr/>
          <p:nvPr/>
        </p:nvSpPr>
        <p:spPr>
          <a:xfrm>
            <a:off x="8229600" y="3383280"/>
            <a:ext cx="2926080" cy="365760"/>
          </a:xfrm>
          <a:prstGeom prst="rect">
            <a:avLst/>
          </a:prstGeom>
          <a:noFill/>
          <a:ln/>
        </p:spPr>
        <p:txBody>
          <a:bodyPr wrap="square" rtlCol="0" anchor="ctr"/>
          <a:lstStyle/>
          <a:p>
            <a:pPr marL="0" indent="0" algn="ctr">
              <a:buNone/>
            </a:pPr>
            <a:r>
              <a:rPr lang="en-US" sz="1200" b="1" dirty="0">
                <a:solidFill>
                  <a:srgbClr val="2563EB"/>
                </a:solidFill>
                <a:latin typeface="Arial" pitchFamily="34" charset="0"/>
                <a:ea typeface="Arial" pitchFamily="34" charset="-122"/>
                <a:cs typeface="Arial" pitchFamily="34" charset="-120"/>
              </a:rPr>
              <a:t>BỘ PHẬN VĂN PHÒNG</a:t>
            </a:r>
            <a:endParaRPr lang="en-US" sz="1200" dirty="0"/>
          </a:p>
        </p:txBody>
      </p:sp>
      <p:sp>
        <p:nvSpPr>
          <p:cNvPr id="20" name="Text 18"/>
          <p:cNvSpPr/>
          <p:nvPr/>
        </p:nvSpPr>
        <p:spPr>
          <a:xfrm>
            <a:off x="8412480" y="3840480"/>
            <a:ext cx="2560320" cy="1097280"/>
          </a:xfrm>
          <a:prstGeom prst="rect">
            <a:avLst/>
          </a:prstGeom>
          <a:noFill/>
          <a:ln/>
        </p:spPr>
        <p:txBody>
          <a:bodyPr wrap="square" rtlCol="0" anchor="ctr"/>
          <a:lstStyle/>
          <a:p>
            <a:pPr marL="0" indent="0" algn="ctr">
              <a:buNone/>
            </a:pPr>
            <a:r>
              <a:rPr lang="en-US" sz="1100" dirty="0">
                <a:solidFill>
                  <a:srgbClr val="475569"/>
                </a:solidFill>
                <a:latin typeface="Arial" pitchFamily="34" charset="0"/>
                <a:ea typeface="Arial" pitchFamily="34" charset="-122"/>
                <a:cs typeface="Arial" pitchFamily="34" charset="-120"/>
              </a:rPr>
              <a:t>Hành chính, quản lý thông tin, hỗ trợ kinh doanh &amp; phát triển hệ thống CNTT.</a:t>
            </a:r>
            <a:endParaRPr lang="en-US" sz="1100" dirty="0"/>
          </a:p>
        </p:txBody>
      </p:sp>
      <p:sp>
        <p:nvSpPr>
          <p:cNvPr id="21" name="Shape 19"/>
          <p:cNvSpPr/>
          <p:nvPr/>
        </p:nvSpPr>
        <p:spPr>
          <a:xfrm>
            <a:off x="8229600" y="5303520"/>
            <a:ext cx="2926080" cy="822960"/>
          </a:xfrm>
          <a:prstGeom prst="roundRect">
            <a:avLst>
              <a:gd name="adj" fmla="val 11111"/>
            </a:avLst>
          </a:prstGeom>
          <a:solidFill>
            <a:srgbClr val="FEF3C7"/>
          </a:solidFill>
          <a:ln w="19050">
            <a:solidFill>
              <a:srgbClr val="D97706"/>
            </a:solidFill>
            <a:prstDash val="solid"/>
          </a:ln>
        </p:spPr>
      </p:sp>
      <p:sp>
        <p:nvSpPr>
          <p:cNvPr id="22" name="Text 20"/>
          <p:cNvSpPr/>
          <p:nvPr/>
        </p:nvSpPr>
        <p:spPr>
          <a:xfrm>
            <a:off x="8229600" y="5303520"/>
            <a:ext cx="2926080" cy="822960"/>
          </a:xfrm>
          <a:prstGeom prst="rect">
            <a:avLst/>
          </a:prstGeom>
          <a:noFill/>
          <a:ln/>
        </p:spPr>
        <p:txBody>
          <a:bodyPr wrap="square" rtlCol="0" anchor="ctr"/>
          <a:lstStyle/>
          <a:p>
            <a:pPr marL="0" indent="0" algn="ctr">
              <a:buNone/>
            </a:pPr>
            <a:r>
              <a:rPr lang="en-US" sz="1100" b="1" dirty="0">
                <a:solidFill>
                  <a:srgbClr val="92400E"/>
                </a:solidFill>
                <a:latin typeface="Arial" pitchFamily="34" charset="0"/>
                <a:ea typeface="Arial" pitchFamily="34" charset="-122"/>
                <a:cs typeface="Arial" pitchFamily="34" charset="-120"/>
              </a:rPr>
              <a:t>📍 Sinh viên Phạm Khắc Khải</a:t>
            </a:r>
            <a:endParaRPr lang="en-US" sz="1100" dirty="0"/>
          </a:p>
          <a:p>
            <a:pPr marL="0" indent="0" algn="ctr">
              <a:buNone/>
            </a:pPr>
            <a:r>
              <a:rPr lang="en-US" sz="1100" b="1" dirty="0">
                <a:solidFill>
                  <a:srgbClr val="92400E"/>
                </a:solidFill>
                <a:latin typeface="Arial" pitchFamily="34" charset="0"/>
                <a:ea typeface="Arial" pitchFamily="34" charset="-122"/>
                <a:cs typeface="Arial" pitchFamily="34" charset="-120"/>
              </a:rPr>
              <a:t>Thực tập sinh Lập trình Web</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1. KHẢO SÁT DOANH NGHIỆP</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1.3. Các công việc thực tập đã thực hiện</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731520" y="1554480"/>
            <a:ext cx="3429000" cy="2011680"/>
          </a:xfrm>
          <a:prstGeom prst="roundRect">
            <a:avLst>
              <a:gd name="adj" fmla="val 4545"/>
            </a:avLst>
          </a:prstGeom>
          <a:solidFill>
            <a:srgbClr val="FFFFFF"/>
          </a:solidFill>
          <a:ln w="12700">
            <a:solidFill>
              <a:srgbClr val="E2E8F0"/>
            </a:solidFill>
            <a:prstDash val="solid"/>
          </a:ln>
        </p:spPr>
      </p:sp>
      <p:sp>
        <p:nvSpPr>
          <p:cNvPr id="6" name="Text 4"/>
          <p:cNvSpPr/>
          <p:nvPr/>
        </p:nvSpPr>
        <p:spPr>
          <a:xfrm>
            <a:off x="914400" y="1737360"/>
            <a:ext cx="3063240" cy="365760"/>
          </a:xfrm>
          <a:prstGeom prst="rect">
            <a:avLst/>
          </a:prstGeom>
          <a:noFill/>
          <a:ln/>
        </p:spPr>
        <p:txBody>
          <a:bodyPr wrap="square" rtlCol="0" anchor="ctr"/>
          <a:lstStyle/>
          <a:p>
            <a:pPr marL="0" indent="0">
              <a:buNone/>
            </a:pPr>
            <a:r>
              <a:rPr lang="en-US" sz="1250" b="1" dirty="0">
                <a:solidFill>
                  <a:srgbClr val="2563EB"/>
                </a:solidFill>
                <a:latin typeface="Arial" pitchFamily="34" charset="0"/>
                <a:ea typeface="Arial" pitchFamily="34" charset="-122"/>
                <a:cs typeface="Arial" pitchFamily="34" charset="-120"/>
              </a:rPr>
              <a:t>1. Khảo sát &amp; Phân tích</a:t>
            </a:r>
            <a:endParaRPr lang="en-US" sz="1250" dirty="0"/>
          </a:p>
        </p:txBody>
      </p:sp>
      <p:sp>
        <p:nvSpPr>
          <p:cNvPr id="7" name="Text 5"/>
          <p:cNvSpPr/>
          <p:nvPr/>
        </p:nvSpPr>
        <p:spPr>
          <a:xfrm>
            <a:off x="914400" y="2148840"/>
            <a:ext cx="3063240" cy="128016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Tìm hiểu nhu cầu thực tế của công ty; khảo sát quy trình bán hàng và cấu trúc dịch vụ thang máy.</a:t>
            </a:r>
            <a:endParaRPr lang="en-US" sz="1100" dirty="0"/>
          </a:p>
        </p:txBody>
      </p:sp>
      <p:sp>
        <p:nvSpPr>
          <p:cNvPr id="8" name="Shape 6"/>
          <p:cNvSpPr/>
          <p:nvPr/>
        </p:nvSpPr>
        <p:spPr>
          <a:xfrm>
            <a:off x="4343400" y="1554480"/>
            <a:ext cx="3429000" cy="2011680"/>
          </a:xfrm>
          <a:prstGeom prst="roundRect">
            <a:avLst>
              <a:gd name="adj" fmla="val 4545"/>
            </a:avLst>
          </a:prstGeom>
          <a:solidFill>
            <a:srgbClr val="FFFFFF"/>
          </a:solidFill>
          <a:ln w="12700">
            <a:solidFill>
              <a:srgbClr val="E2E8F0"/>
            </a:solidFill>
            <a:prstDash val="solid"/>
          </a:ln>
        </p:spPr>
      </p:sp>
      <p:sp>
        <p:nvSpPr>
          <p:cNvPr id="9" name="Text 7"/>
          <p:cNvSpPr/>
          <p:nvPr/>
        </p:nvSpPr>
        <p:spPr>
          <a:xfrm>
            <a:off x="4526280" y="1737360"/>
            <a:ext cx="3063240" cy="365760"/>
          </a:xfrm>
          <a:prstGeom prst="rect">
            <a:avLst/>
          </a:prstGeom>
          <a:noFill/>
          <a:ln/>
        </p:spPr>
        <p:txBody>
          <a:bodyPr wrap="square" rtlCol="0" anchor="ctr"/>
          <a:lstStyle/>
          <a:p>
            <a:pPr marL="0" indent="0">
              <a:buNone/>
            </a:pPr>
            <a:r>
              <a:rPr lang="en-US" sz="1250" b="1" dirty="0">
                <a:solidFill>
                  <a:srgbClr val="2563EB"/>
                </a:solidFill>
                <a:latin typeface="Arial" pitchFamily="34" charset="0"/>
                <a:ea typeface="Arial" pitchFamily="34" charset="-122"/>
                <a:cs typeface="Arial" pitchFamily="34" charset="-120"/>
              </a:rPr>
              <a:t>2. Phát triển Web Fullstack</a:t>
            </a:r>
            <a:endParaRPr lang="en-US" sz="1250" dirty="0"/>
          </a:p>
        </p:txBody>
      </p:sp>
      <p:sp>
        <p:nvSpPr>
          <p:cNvPr id="10" name="Text 8"/>
          <p:cNvSpPr/>
          <p:nvPr/>
        </p:nvSpPr>
        <p:spPr>
          <a:xfrm>
            <a:off x="4526280" y="2148840"/>
            <a:ext cx="3063240" cy="128016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Xây dựng các trang: Home, Giới thiệu, Dịch vụ, Dự án, Liên hệ &amp; Admin CMS (React + .NET Core 8 + PostgreSQL).</a:t>
            </a:r>
            <a:endParaRPr lang="en-US" sz="1100" dirty="0"/>
          </a:p>
        </p:txBody>
      </p:sp>
      <p:sp>
        <p:nvSpPr>
          <p:cNvPr id="11" name="Shape 9"/>
          <p:cNvSpPr/>
          <p:nvPr/>
        </p:nvSpPr>
        <p:spPr>
          <a:xfrm>
            <a:off x="7955280" y="1554480"/>
            <a:ext cx="3429000" cy="2011680"/>
          </a:xfrm>
          <a:prstGeom prst="roundRect">
            <a:avLst>
              <a:gd name="adj" fmla="val 4545"/>
            </a:avLst>
          </a:prstGeom>
          <a:solidFill>
            <a:srgbClr val="FFFFFF"/>
          </a:solidFill>
          <a:ln w="12700">
            <a:solidFill>
              <a:srgbClr val="E2E8F0"/>
            </a:solidFill>
            <a:prstDash val="solid"/>
          </a:ln>
        </p:spPr>
      </p:sp>
      <p:sp>
        <p:nvSpPr>
          <p:cNvPr id="12" name="Text 10"/>
          <p:cNvSpPr/>
          <p:nvPr/>
        </p:nvSpPr>
        <p:spPr>
          <a:xfrm>
            <a:off x="8138160" y="1737360"/>
            <a:ext cx="3063240" cy="365760"/>
          </a:xfrm>
          <a:prstGeom prst="rect">
            <a:avLst/>
          </a:prstGeom>
          <a:noFill/>
          <a:ln/>
        </p:spPr>
        <p:txBody>
          <a:bodyPr wrap="square" rtlCol="0" anchor="ctr"/>
          <a:lstStyle/>
          <a:p>
            <a:pPr marL="0" indent="0">
              <a:buNone/>
            </a:pPr>
            <a:r>
              <a:rPr lang="en-US" sz="1250" b="1" dirty="0">
                <a:solidFill>
                  <a:srgbClr val="2563EB"/>
                </a:solidFill>
                <a:latin typeface="Arial" pitchFamily="34" charset="0"/>
                <a:ea typeface="Arial" pitchFamily="34" charset="-122"/>
                <a:cs typeface="Arial" pitchFamily="34" charset="-120"/>
              </a:rPr>
              <a:t>3. Tích hợp AI Tư vấn</a:t>
            </a:r>
            <a:endParaRPr lang="en-US" sz="1250" dirty="0"/>
          </a:p>
        </p:txBody>
      </p:sp>
      <p:sp>
        <p:nvSpPr>
          <p:cNvPr id="13" name="Text 11"/>
          <p:cNvSpPr/>
          <p:nvPr/>
        </p:nvSpPr>
        <p:spPr>
          <a:xfrm>
            <a:off x="8138160" y="2148840"/>
            <a:ext cx="3063240" cy="128016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Xây dựng Trợ lý ảo AI trả lời tự động các câu hỏi phổ biến của khách hàng dựa trên dữ liệu kỹ thuật.</a:t>
            </a:r>
            <a:endParaRPr lang="en-US" sz="1100" dirty="0"/>
          </a:p>
        </p:txBody>
      </p:sp>
      <p:sp>
        <p:nvSpPr>
          <p:cNvPr id="14" name="Shape 12"/>
          <p:cNvSpPr/>
          <p:nvPr/>
        </p:nvSpPr>
        <p:spPr>
          <a:xfrm>
            <a:off x="731520" y="3840480"/>
            <a:ext cx="3429000" cy="2011680"/>
          </a:xfrm>
          <a:prstGeom prst="roundRect">
            <a:avLst>
              <a:gd name="adj" fmla="val 4545"/>
            </a:avLst>
          </a:prstGeom>
          <a:solidFill>
            <a:srgbClr val="FFFFFF"/>
          </a:solidFill>
          <a:ln w="12700">
            <a:solidFill>
              <a:srgbClr val="E2E8F0"/>
            </a:solidFill>
            <a:prstDash val="solid"/>
          </a:ln>
        </p:spPr>
      </p:sp>
      <p:sp>
        <p:nvSpPr>
          <p:cNvPr id="15" name="Text 13"/>
          <p:cNvSpPr/>
          <p:nvPr/>
        </p:nvSpPr>
        <p:spPr>
          <a:xfrm>
            <a:off x="914400" y="4023360"/>
            <a:ext cx="3063240" cy="365760"/>
          </a:xfrm>
          <a:prstGeom prst="rect">
            <a:avLst/>
          </a:prstGeom>
          <a:noFill/>
          <a:ln/>
        </p:spPr>
        <p:txBody>
          <a:bodyPr wrap="square" rtlCol="0" anchor="ctr"/>
          <a:lstStyle/>
          <a:p>
            <a:pPr marL="0" indent="0">
              <a:buNone/>
            </a:pPr>
            <a:r>
              <a:rPr lang="en-US" sz="1250" b="1" dirty="0">
                <a:solidFill>
                  <a:srgbClr val="2563EB"/>
                </a:solidFill>
                <a:latin typeface="Arial" pitchFamily="34" charset="0"/>
                <a:ea typeface="Arial" pitchFamily="34" charset="-122"/>
                <a:cs typeface="Arial" pitchFamily="34" charset="-120"/>
              </a:rPr>
              <a:t>4. Tối ưu hóa SEO Onpage</a:t>
            </a:r>
            <a:endParaRPr lang="en-US" sz="1250" dirty="0"/>
          </a:p>
        </p:txBody>
      </p:sp>
      <p:sp>
        <p:nvSpPr>
          <p:cNvPr id="16" name="Text 14"/>
          <p:cNvSpPr/>
          <p:nvPr/>
        </p:nvSpPr>
        <p:spPr>
          <a:xfrm>
            <a:off x="914400" y="4434840"/>
            <a:ext cx="3063240" cy="128016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Cấu hình meta tag, sitemap, tối ưu hình ảnh, tốc độ tải trang giúp website tăng khả năng lập chỉ mục.</a:t>
            </a:r>
            <a:endParaRPr lang="en-US" sz="1100" dirty="0"/>
          </a:p>
        </p:txBody>
      </p:sp>
      <p:sp>
        <p:nvSpPr>
          <p:cNvPr id="17" name="Shape 15"/>
          <p:cNvSpPr/>
          <p:nvPr/>
        </p:nvSpPr>
        <p:spPr>
          <a:xfrm>
            <a:off x="4343400" y="3840480"/>
            <a:ext cx="3429000" cy="2011680"/>
          </a:xfrm>
          <a:prstGeom prst="roundRect">
            <a:avLst>
              <a:gd name="adj" fmla="val 4545"/>
            </a:avLst>
          </a:prstGeom>
          <a:solidFill>
            <a:srgbClr val="FFFFFF"/>
          </a:solidFill>
          <a:ln w="12700">
            <a:solidFill>
              <a:srgbClr val="E2E8F0"/>
            </a:solidFill>
            <a:prstDash val="solid"/>
          </a:ln>
        </p:spPr>
      </p:sp>
      <p:sp>
        <p:nvSpPr>
          <p:cNvPr id="18" name="Text 16"/>
          <p:cNvSpPr/>
          <p:nvPr/>
        </p:nvSpPr>
        <p:spPr>
          <a:xfrm>
            <a:off x="4526280" y="4023360"/>
            <a:ext cx="3063240" cy="365760"/>
          </a:xfrm>
          <a:prstGeom prst="rect">
            <a:avLst/>
          </a:prstGeom>
          <a:noFill/>
          <a:ln/>
        </p:spPr>
        <p:txBody>
          <a:bodyPr wrap="square" rtlCol="0" anchor="ctr"/>
          <a:lstStyle/>
          <a:p>
            <a:pPr marL="0" indent="0">
              <a:buNone/>
            </a:pPr>
            <a:r>
              <a:rPr lang="en-US" sz="1250" b="1" dirty="0">
                <a:solidFill>
                  <a:srgbClr val="2563EB"/>
                </a:solidFill>
                <a:latin typeface="Arial" pitchFamily="34" charset="0"/>
                <a:ea typeface="Arial" pitchFamily="34" charset="-122"/>
                <a:cs typeface="Arial" pitchFamily="34" charset="-120"/>
              </a:rPr>
              <a:t>5. Trang Dự toán Báo giá</a:t>
            </a:r>
            <a:endParaRPr lang="en-US" sz="1250" dirty="0"/>
          </a:p>
        </p:txBody>
      </p:sp>
      <p:sp>
        <p:nvSpPr>
          <p:cNvPr id="19" name="Text 17"/>
          <p:cNvSpPr/>
          <p:nvPr/>
        </p:nvSpPr>
        <p:spPr>
          <a:xfrm>
            <a:off x="4526280" y="4434840"/>
            <a:ext cx="3063240" cy="128016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Xây dựng module (/du-toan) tự động tính toán kích thước hố và dự toán ngân sách theo nhu cầu khách hàng.</a:t>
            </a:r>
            <a:endParaRPr lang="en-US" sz="1100" dirty="0"/>
          </a:p>
        </p:txBody>
      </p:sp>
      <p:sp>
        <p:nvSpPr>
          <p:cNvPr id="20" name="Shape 18"/>
          <p:cNvSpPr/>
          <p:nvPr/>
        </p:nvSpPr>
        <p:spPr>
          <a:xfrm>
            <a:off x="7955280" y="3840480"/>
            <a:ext cx="3429000" cy="2011680"/>
          </a:xfrm>
          <a:prstGeom prst="roundRect">
            <a:avLst>
              <a:gd name="adj" fmla="val 4545"/>
            </a:avLst>
          </a:prstGeom>
          <a:solidFill>
            <a:srgbClr val="FFFFFF"/>
          </a:solidFill>
          <a:ln w="12700">
            <a:solidFill>
              <a:srgbClr val="E2E8F0"/>
            </a:solidFill>
            <a:prstDash val="solid"/>
          </a:ln>
        </p:spPr>
      </p:sp>
      <p:sp>
        <p:nvSpPr>
          <p:cNvPr id="21" name="Text 19"/>
          <p:cNvSpPr/>
          <p:nvPr/>
        </p:nvSpPr>
        <p:spPr>
          <a:xfrm>
            <a:off x="8138160" y="4023360"/>
            <a:ext cx="3063240" cy="365760"/>
          </a:xfrm>
          <a:prstGeom prst="rect">
            <a:avLst/>
          </a:prstGeom>
          <a:noFill/>
          <a:ln/>
        </p:spPr>
        <p:txBody>
          <a:bodyPr wrap="square" rtlCol="0" anchor="ctr"/>
          <a:lstStyle/>
          <a:p>
            <a:pPr marL="0" indent="0">
              <a:buNone/>
            </a:pPr>
            <a:r>
              <a:rPr lang="en-US" sz="1250" b="1" dirty="0">
                <a:solidFill>
                  <a:srgbClr val="2563EB"/>
                </a:solidFill>
                <a:latin typeface="Arial" pitchFamily="34" charset="0"/>
                <a:ea typeface="Arial" pitchFamily="34" charset="-122"/>
                <a:cs typeface="Arial" pitchFamily="34" charset="-120"/>
              </a:rPr>
              <a:t>6. Triển khai &amp; Chăm sóc KH</a:t>
            </a:r>
            <a:endParaRPr lang="en-US" sz="1250" dirty="0"/>
          </a:p>
        </p:txBody>
      </p:sp>
      <p:sp>
        <p:nvSpPr>
          <p:cNvPr id="22" name="Text 20"/>
          <p:cNvSpPr/>
          <p:nvPr/>
        </p:nvSpPr>
        <p:spPr>
          <a:xfrm>
            <a:off x="8138160" y="4434840"/>
            <a:ext cx="3063240" cy="128016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Deploy hệ thống lên thangmayhahong.xyz; đồng thời hỗ trợ tiếp nhận thông tin khách hàng để hoàn thiện tính năng.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2. KHÓ KHĂN &amp; GIẢI PHÁP</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2.1. Khó khăn về chuyên môn &amp; Môi trường</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731520" y="1554480"/>
            <a:ext cx="5120640" cy="2011680"/>
          </a:xfrm>
          <a:prstGeom prst="roundRect">
            <a:avLst>
              <a:gd name="adj" fmla="val 4545"/>
            </a:avLst>
          </a:prstGeom>
          <a:solidFill>
            <a:srgbClr val="FFFFFF"/>
          </a:solidFill>
          <a:ln w="12700">
            <a:solidFill>
              <a:srgbClr val="FCA5A5"/>
            </a:solidFill>
            <a:prstDash val="solid"/>
          </a:ln>
        </p:spPr>
      </p:sp>
      <p:sp>
        <p:nvSpPr>
          <p:cNvPr id="6" name="Shape 4"/>
          <p:cNvSpPr/>
          <p:nvPr/>
        </p:nvSpPr>
        <p:spPr>
          <a:xfrm>
            <a:off x="960120" y="1783080"/>
            <a:ext cx="640080" cy="640080"/>
          </a:xfrm>
          <a:prstGeom prst="roundRect">
            <a:avLst>
              <a:gd name="adj" fmla="val 11429"/>
            </a:avLst>
          </a:prstGeom>
          <a:solidFill>
            <a:srgbClr val="FEE2E2"/>
          </a:solidFill>
          <a:ln w="12700">
            <a:solidFill>
              <a:srgbClr val="EF4444"/>
            </a:solidFill>
            <a:prstDash val="solid"/>
          </a:ln>
        </p:spPr>
      </p:sp>
      <p:sp>
        <p:nvSpPr>
          <p:cNvPr id="7" name="Text 5"/>
          <p:cNvSpPr/>
          <p:nvPr/>
        </p:nvSpPr>
        <p:spPr>
          <a:xfrm>
            <a:off x="960120" y="1783080"/>
            <a:ext cx="640080" cy="640080"/>
          </a:xfrm>
          <a:prstGeom prst="rect">
            <a:avLst/>
          </a:prstGeom>
          <a:noFill/>
          <a:ln/>
        </p:spPr>
        <p:txBody>
          <a:bodyPr wrap="square" rtlCol="0" anchor="ctr"/>
          <a:lstStyle/>
          <a:p>
            <a:pPr marL="0" indent="0" algn="ctr">
              <a:buNone/>
            </a:pPr>
            <a:r>
              <a:rPr lang="en-US" sz="1600" b="1" dirty="0">
                <a:solidFill>
                  <a:srgbClr val="DC2626"/>
                </a:solidFill>
                <a:latin typeface="Arial" pitchFamily="34" charset="0"/>
                <a:ea typeface="Arial" pitchFamily="34" charset="-122"/>
                <a:cs typeface="Arial" pitchFamily="34" charset="-120"/>
              </a:rPr>
              <a:t>01</a:t>
            </a:r>
            <a:endParaRPr lang="en-US" sz="1600" dirty="0"/>
          </a:p>
        </p:txBody>
      </p:sp>
      <p:sp>
        <p:nvSpPr>
          <p:cNvPr id="8" name="Text 6"/>
          <p:cNvSpPr/>
          <p:nvPr/>
        </p:nvSpPr>
        <p:spPr>
          <a:xfrm>
            <a:off x="1737360" y="1783080"/>
            <a:ext cx="3840480" cy="411480"/>
          </a:xfrm>
          <a:prstGeom prst="rect">
            <a:avLst/>
          </a:prstGeom>
          <a:noFill/>
          <a:ln/>
        </p:spPr>
        <p:txBody>
          <a:bodyPr wrap="square" rtlCol="0" anchor="ctr"/>
          <a:lstStyle/>
          <a:p>
            <a:pPr marL="0" indent="0">
              <a:buNone/>
            </a:pPr>
            <a:r>
              <a:rPr lang="en-US" sz="1350" b="1" dirty="0">
                <a:solidFill>
                  <a:srgbClr val="1E293B"/>
                </a:solidFill>
                <a:latin typeface="Arial" pitchFamily="34" charset="0"/>
                <a:ea typeface="Arial" pitchFamily="34" charset="-122"/>
                <a:cs typeface="Arial" pitchFamily="34" charset="-120"/>
              </a:rPr>
              <a:t>Làm việc với hệ thống thực tế</a:t>
            </a:r>
            <a:endParaRPr lang="en-US" sz="1350" dirty="0"/>
          </a:p>
        </p:txBody>
      </p:sp>
      <p:sp>
        <p:nvSpPr>
          <p:cNvPr id="9" name="Text 7"/>
          <p:cNvSpPr/>
          <p:nvPr/>
        </p:nvSpPr>
        <p:spPr>
          <a:xfrm>
            <a:off x="1737360" y="2240280"/>
            <a:ext cx="3840480" cy="118872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Khác với bài tập trường có phạm vi cố định, website doanh nghiệp đòi hỏi độ ổn định 24/7, dữ liệu chính xác, tối ưu trải nghiệm người dùng và khả năng vận hành thực tế trên Internet.</a:t>
            </a:r>
            <a:endParaRPr lang="en-US" sz="1100" dirty="0"/>
          </a:p>
        </p:txBody>
      </p:sp>
      <p:sp>
        <p:nvSpPr>
          <p:cNvPr id="10" name="Shape 8"/>
          <p:cNvSpPr/>
          <p:nvPr/>
        </p:nvSpPr>
        <p:spPr>
          <a:xfrm>
            <a:off x="6126480" y="1554480"/>
            <a:ext cx="5120640" cy="2011680"/>
          </a:xfrm>
          <a:prstGeom prst="roundRect">
            <a:avLst>
              <a:gd name="adj" fmla="val 4545"/>
            </a:avLst>
          </a:prstGeom>
          <a:solidFill>
            <a:srgbClr val="FFFFFF"/>
          </a:solidFill>
          <a:ln w="12700">
            <a:solidFill>
              <a:srgbClr val="FCA5A5"/>
            </a:solidFill>
            <a:prstDash val="solid"/>
          </a:ln>
        </p:spPr>
      </p:sp>
      <p:sp>
        <p:nvSpPr>
          <p:cNvPr id="11" name="Shape 9"/>
          <p:cNvSpPr/>
          <p:nvPr/>
        </p:nvSpPr>
        <p:spPr>
          <a:xfrm>
            <a:off x="6355080" y="1783080"/>
            <a:ext cx="640080" cy="640080"/>
          </a:xfrm>
          <a:prstGeom prst="roundRect">
            <a:avLst>
              <a:gd name="adj" fmla="val 11429"/>
            </a:avLst>
          </a:prstGeom>
          <a:solidFill>
            <a:srgbClr val="FEE2E2"/>
          </a:solidFill>
          <a:ln w="12700">
            <a:solidFill>
              <a:srgbClr val="EF4444"/>
            </a:solidFill>
            <a:prstDash val="solid"/>
          </a:ln>
        </p:spPr>
      </p:sp>
      <p:sp>
        <p:nvSpPr>
          <p:cNvPr id="12" name="Text 10"/>
          <p:cNvSpPr/>
          <p:nvPr/>
        </p:nvSpPr>
        <p:spPr>
          <a:xfrm>
            <a:off x="6355080" y="1783080"/>
            <a:ext cx="640080" cy="640080"/>
          </a:xfrm>
          <a:prstGeom prst="rect">
            <a:avLst/>
          </a:prstGeom>
          <a:noFill/>
          <a:ln/>
        </p:spPr>
        <p:txBody>
          <a:bodyPr wrap="square" rtlCol="0" anchor="ctr"/>
          <a:lstStyle/>
          <a:p>
            <a:pPr marL="0" indent="0" algn="ctr">
              <a:buNone/>
            </a:pPr>
            <a:r>
              <a:rPr lang="en-US" sz="1600" b="1" dirty="0">
                <a:solidFill>
                  <a:srgbClr val="DC2626"/>
                </a:solidFill>
                <a:latin typeface="Arial" pitchFamily="34" charset="0"/>
                <a:ea typeface="Arial" pitchFamily="34" charset="-122"/>
                <a:cs typeface="Arial" pitchFamily="34" charset="-120"/>
              </a:rPr>
              <a:t>02</a:t>
            </a:r>
            <a:endParaRPr lang="en-US" sz="1600" dirty="0"/>
          </a:p>
        </p:txBody>
      </p:sp>
      <p:sp>
        <p:nvSpPr>
          <p:cNvPr id="13" name="Text 11"/>
          <p:cNvSpPr/>
          <p:nvPr/>
        </p:nvSpPr>
        <p:spPr>
          <a:xfrm>
            <a:off x="7132320" y="1783080"/>
            <a:ext cx="3840480" cy="411480"/>
          </a:xfrm>
          <a:prstGeom prst="rect">
            <a:avLst/>
          </a:prstGeom>
          <a:noFill/>
          <a:ln/>
        </p:spPr>
        <p:txBody>
          <a:bodyPr wrap="square" rtlCol="0" anchor="ctr"/>
          <a:lstStyle/>
          <a:p>
            <a:pPr marL="0" indent="0">
              <a:buNone/>
            </a:pPr>
            <a:r>
              <a:rPr lang="en-US" sz="1350" b="1" dirty="0">
                <a:solidFill>
                  <a:srgbClr val="1E293B"/>
                </a:solidFill>
                <a:latin typeface="Arial" pitchFamily="34" charset="0"/>
                <a:ea typeface="Arial" pitchFamily="34" charset="-122"/>
                <a:cs typeface="Arial" pitchFamily="34" charset="-120"/>
              </a:rPr>
              <a:t>Làm việc với nhiều công nghệ</a:t>
            </a:r>
            <a:endParaRPr lang="en-US" sz="1350" dirty="0"/>
          </a:p>
        </p:txBody>
      </p:sp>
      <p:sp>
        <p:nvSpPr>
          <p:cNvPr id="14" name="Text 12"/>
          <p:cNvSpPr/>
          <p:nvPr/>
        </p:nvSpPr>
        <p:spPr>
          <a:xfrm>
            <a:off x="7132320" y="2240280"/>
            <a:ext cx="3840480" cy="118872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Hệ thống kết hợp React, ASP.NET Core API, PostgreSQL, Cloud Hosting &amp; API bên ngoài. Đòi hỏi kỹ năng chẩn đoán lỗi phân tầng (giao diện, backend, database hay hạ tầng mạng).</a:t>
            </a:r>
            <a:endParaRPr lang="en-US" sz="1100" dirty="0"/>
          </a:p>
        </p:txBody>
      </p:sp>
      <p:sp>
        <p:nvSpPr>
          <p:cNvPr id="15" name="Shape 13"/>
          <p:cNvSpPr/>
          <p:nvPr/>
        </p:nvSpPr>
        <p:spPr>
          <a:xfrm>
            <a:off x="731520" y="3840480"/>
            <a:ext cx="5120640" cy="2011680"/>
          </a:xfrm>
          <a:prstGeom prst="roundRect">
            <a:avLst>
              <a:gd name="adj" fmla="val 4545"/>
            </a:avLst>
          </a:prstGeom>
          <a:solidFill>
            <a:srgbClr val="FFFFFF"/>
          </a:solidFill>
          <a:ln w="12700">
            <a:solidFill>
              <a:srgbClr val="FCA5A5"/>
            </a:solidFill>
            <a:prstDash val="solid"/>
          </a:ln>
        </p:spPr>
      </p:sp>
      <p:sp>
        <p:nvSpPr>
          <p:cNvPr id="16" name="Shape 14"/>
          <p:cNvSpPr/>
          <p:nvPr/>
        </p:nvSpPr>
        <p:spPr>
          <a:xfrm>
            <a:off x="960120" y="4069080"/>
            <a:ext cx="640080" cy="640080"/>
          </a:xfrm>
          <a:prstGeom prst="roundRect">
            <a:avLst>
              <a:gd name="adj" fmla="val 11429"/>
            </a:avLst>
          </a:prstGeom>
          <a:solidFill>
            <a:srgbClr val="FEE2E2"/>
          </a:solidFill>
          <a:ln w="12700">
            <a:solidFill>
              <a:srgbClr val="EF4444"/>
            </a:solidFill>
            <a:prstDash val="solid"/>
          </a:ln>
        </p:spPr>
      </p:sp>
      <p:sp>
        <p:nvSpPr>
          <p:cNvPr id="17" name="Text 15"/>
          <p:cNvSpPr/>
          <p:nvPr/>
        </p:nvSpPr>
        <p:spPr>
          <a:xfrm>
            <a:off x="960120" y="4069080"/>
            <a:ext cx="640080" cy="640080"/>
          </a:xfrm>
          <a:prstGeom prst="rect">
            <a:avLst/>
          </a:prstGeom>
          <a:noFill/>
          <a:ln/>
        </p:spPr>
        <p:txBody>
          <a:bodyPr wrap="square" rtlCol="0" anchor="ctr"/>
          <a:lstStyle/>
          <a:p>
            <a:pPr marL="0" indent="0" algn="ctr">
              <a:buNone/>
            </a:pPr>
            <a:r>
              <a:rPr lang="en-US" sz="1600" b="1" dirty="0">
                <a:solidFill>
                  <a:srgbClr val="DC2626"/>
                </a:solidFill>
                <a:latin typeface="Arial" pitchFamily="34" charset="0"/>
                <a:ea typeface="Arial" pitchFamily="34" charset="-122"/>
                <a:cs typeface="Arial" pitchFamily="34" charset="-120"/>
              </a:rPr>
              <a:t>03</a:t>
            </a:r>
            <a:endParaRPr lang="en-US" sz="1600" dirty="0"/>
          </a:p>
        </p:txBody>
      </p:sp>
      <p:sp>
        <p:nvSpPr>
          <p:cNvPr id="18" name="Text 16"/>
          <p:cNvSpPr/>
          <p:nvPr/>
        </p:nvSpPr>
        <p:spPr>
          <a:xfrm>
            <a:off x="1737360" y="4069080"/>
            <a:ext cx="3840480" cy="411480"/>
          </a:xfrm>
          <a:prstGeom prst="rect">
            <a:avLst/>
          </a:prstGeom>
          <a:noFill/>
          <a:ln/>
        </p:spPr>
        <p:txBody>
          <a:bodyPr wrap="square" rtlCol="0" anchor="ctr"/>
          <a:lstStyle/>
          <a:p>
            <a:pPr marL="0" indent="0">
              <a:buNone/>
            </a:pPr>
            <a:r>
              <a:rPr lang="en-US" sz="1350" b="1" dirty="0">
                <a:solidFill>
                  <a:srgbClr val="1E293B"/>
                </a:solidFill>
                <a:latin typeface="Arial" pitchFamily="34" charset="0"/>
                <a:ea typeface="Arial" pitchFamily="34" charset="-122"/>
                <a:cs typeface="Arial" pitchFamily="34" charset="-120"/>
              </a:rPr>
              <a:t>Tiếp nhận nhu cầu khách hàng</a:t>
            </a:r>
            <a:endParaRPr lang="en-US" sz="1350" dirty="0"/>
          </a:p>
        </p:txBody>
      </p:sp>
      <p:sp>
        <p:nvSpPr>
          <p:cNvPr id="19" name="Text 17"/>
          <p:cNvSpPr/>
          <p:nvPr/>
        </p:nvSpPr>
        <p:spPr>
          <a:xfrm>
            <a:off x="1737360" y="4526280"/>
            <a:ext cx="3840480" cy="118872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Khách hàng sử dụng nhiều cách diễn đạt phi kỹ thuật cho cùng một vấn đề. Cần phân loại được thông tin giải đáp trực tiếp trên web với các bài toán kỹ thuật chuyên sâu cần chuyển giao.</a:t>
            </a:r>
            <a:endParaRPr lang="en-US" sz="1100" dirty="0"/>
          </a:p>
        </p:txBody>
      </p:sp>
      <p:sp>
        <p:nvSpPr>
          <p:cNvPr id="20" name="Shape 18"/>
          <p:cNvSpPr/>
          <p:nvPr/>
        </p:nvSpPr>
        <p:spPr>
          <a:xfrm>
            <a:off x="6126480" y="3840480"/>
            <a:ext cx="5120640" cy="2011680"/>
          </a:xfrm>
          <a:prstGeom prst="roundRect">
            <a:avLst>
              <a:gd name="adj" fmla="val 4545"/>
            </a:avLst>
          </a:prstGeom>
          <a:solidFill>
            <a:srgbClr val="FFFFFF"/>
          </a:solidFill>
          <a:ln w="12700">
            <a:solidFill>
              <a:srgbClr val="FCA5A5"/>
            </a:solidFill>
            <a:prstDash val="solid"/>
          </a:ln>
        </p:spPr>
      </p:sp>
      <p:sp>
        <p:nvSpPr>
          <p:cNvPr id="21" name="Shape 19"/>
          <p:cNvSpPr/>
          <p:nvPr/>
        </p:nvSpPr>
        <p:spPr>
          <a:xfrm>
            <a:off x="6355080" y="4069080"/>
            <a:ext cx="640080" cy="640080"/>
          </a:xfrm>
          <a:prstGeom prst="roundRect">
            <a:avLst>
              <a:gd name="adj" fmla="val 11429"/>
            </a:avLst>
          </a:prstGeom>
          <a:solidFill>
            <a:srgbClr val="FEE2E2"/>
          </a:solidFill>
          <a:ln w="12700">
            <a:solidFill>
              <a:srgbClr val="EF4444"/>
            </a:solidFill>
            <a:prstDash val="solid"/>
          </a:ln>
        </p:spPr>
      </p:sp>
      <p:sp>
        <p:nvSpPr>
          <p:cNvPr id="22" name="Text 20"/>
          <p:cNvSpPr/>
          <p:nvPr/>
        </p:nvSpPr>
        <p:spPr>
          <a:xfrm>
            <a:off x="6355080" y="4069080"/>
            <a:ext cx="640080" cy="640080"/>
          </a:xfrm>
          <a:prstGeom prst="rect">
            <a:avLst/>
          </a:prstGeom>
          <a:noFill/>
          <a:ln/>
        </p:spPr>
        <p:txBody>
          <a:bodyPr wrap="square" rtlCol="0" anchor="ctr"/>
          <a:lstStyle/>
          <a:p>
            <a:pPr marL="0" indent="0" algn="ctr">
              <a:buNone/>
            </a:pPr>
            <a:r>
              <a:rPr lang="en-US" sz="1600" b="1" dirty="0">
                <a:solidFill>
                  <a:srgbClr val="DC2626"/>
                </a:solidFill>
                <a:latin typeface="Arial" pitchFamily="34" charset="0"/>
                <a:ea typeface="Arial" pitchFamily="34" charset="-122"/>
                <a:cs typeface="Arial" pitchFamily="34" charset="-120"/>
              </a:rPr>
              <a:t>04</a:t>
            </a:r>
            <a:endParaRPr lang="en-US" sz="1600" dirty="0"/>
          </a:p>
        </p:txBody>
      </p:sp>
      <p:sp>
        <p:nvSpPr>
          <p:cNvPr id="23" name="Text 21"/>
          <p:cNvSpPr/>
          <p:nvPr/>
        </p:nvSpPr>
        <p:spPr>
          <a:xfrm>
            <a:off x="7132320" y="4069080"/>
            <a:ext cx="3840480" cy="411480"/>
          </a:xfrm>
          <a:prstGeom prst="rect">
            <a:avLst/>
          </a:prstGeom>
          <a:noFill/>
          <a:ln/>
        </p:spPr>
        <p:txBody>
          <a:bodyPr wrap="square" rtlCol="0" anchor="ctr"/>
          <a:lstStyle/>
          <a:p>
            <a:pPr marL="0" indent="0">
              <a:buNone/>
            </a:pPr>
            <a:r>
              <a:rPr lang="en-US" sz="1350" b="1" dirty="0">
                <a:solidFill>
                  <a:srgbClr val="1E293B"/>
                </a:solidFill>
                <a:latin typeface="Arial" pitchFamily="34" charset="0"/>
                <a:ea typeface="Arial" pitchFamily="34" charset="-122"/>
                <a:cs typeface="Arial" pitchFamily="34" charset="-120"/>
              </a:rPr>
              <a:t>Thích ứng yêu cầu thay đổi</a:t>
            </a:r>
            <a:endParaRPr lang="en-US" sz="1350" dirty="0"/>
          </a:p>
        </p:txBody>
      </p:sp>
      <p:sp>
        <p:nvSpPr>
          <p:cNvPr id="24" name="Text 22"/>
          <p:cNvSpPr/>
          <p:nvPr/>
        </p:nvSpPr>
        <p:spPr>
          <a:xfrm>
            <a:off x="7132320" y="4526280"/>
            <a:ext cx="3840480" cy="1188720"/>
          </a:xfrm>
          <a:prstGeom prst="rect">
            <a:avLst/>
          </a:prstGeom>
          <a:noFill/>
          <a:ln/>
        </p:spPr>
        <p:txBody>
          <a:bodyPr wrap="square" rtlCol="0" anchor="ctr"/>
          <a:lstStyle/>
          <a:p>
            <a:pPr marL="0" indent="0">
              <a:buNone/>
            </a:pPr>
            <a:r>
              <a:rPr lang="en-US" sz="1100" dirty="0">
                <a:solidFill>
                  <a:srgbClr val="475569"/>
                </a:solidFill>
                <a:latin typeface="Arial" pitchFamily="34" charset="0"/>
                <a:ea typeface="Arial" pitchFamily="34" charset="-122"/>
                <a:cs typeface="Arial" pitchFamily="34" charset="-120"/>
              </a:rPr>
              <a:t>Yêu cầu kinh doanh của công ty thay đổi theo thời gian thực. Cần tổ chức mã nguồn khoa học, linh hoạt để hạn chế rủi ro phát sinh lỗi dây chuyền sau mỗi lần cập nhật.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2. KHÓ KHĂN &amp; GIẢI PHÁP</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2.2. Giải pháp đã áp dụng để hòa nhập</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731520" y="1554480"/>
            <a:ext cx="3429000" cy="2011680"/>
          </a:xfrm>
          <a:prstGeom prst="roundRect">
            <a:avLst>
              <a:gd name="adj" fmla="val 4545"/>
            </a:avLst>
          </a:prstGeom>
          <a:solidFill>
            <a:srgbClr val="F0FDF4"/>
          </a:solidFill>
          <a:ln w="12700">
            <a:solidFill>
              <a:srgbClr val="BBF7D0"/>
            </a:solidFill>
            <a:prstDash val="solid"/>
          </a:ln>
        </p:spPr>
      </p:sp>
      <p:sp>
        <p:nvSpPr>
          <p:cNvPr id="6" name="Text 4"/>
          <p:cNvSpPr/>
          <p:nvPr/>
        </p:nvSpPr>
        <p:spPr>
          <a:xfrm>
            <a:off x="914400" y="1737360"/>
            <a:ext cx="3063240" cy="411480"/>
          </a:xfrm>
          <a:prstGeom prst="rect">
            <a:avLst/>
          </a:prstGeom>
          <a:noFill/>
          <a:ln/>
        </p:spPr>
        <p:txBody>
          <a:bodyPr wrap="square" rtlCol="0" anchor="ctr"/>
          <a:lstStyle/>
          <a:p>
            <a:pPr marL="0" indent="0">
              <a:buNone/>
            </a:pPr>
            <a:r>
              <a:rPr lang="en-US" sz="1200" b="1" dirty="0">
                <a:solidFill>
                  <a:srgbClr val="15803D"/>
                </a:solidFill>
                <a:latin typeface="Arial" pitchFamily="34" charset="0"/>
                <a:ea typeface="Arial" pitchFamily="34" charset="-122"/>
                <a:cs typeface="Arial" pitchFamily="34" charset="-120"/>
              </a:rPr>
              <a:t>✔ Tự nghiên cứu tài liệu chính thức</a:t>
            </a:r>
            <a:endParaRPr lang="en-US" sz="1200" dirty="0"/>
          </a:p>
        </p:txBody>
      </p:sp>
      <p:sp>
        <p:nvSpPr>
          <p:cNvPr id="7" name="Text 5"/>
          <p:cNvSpPr/>
          <p:nvPr/>
        </p:nvSpPr>
        <p:spPr>
          <a:xfrm>
            <a:off x="914400" y="2194560"/>
            <a:ext cx="3063240" cy="118872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Chủ động đọc Official Docs của React, ASP.NET Core 8, PostgreSQL và các API để nắm vững kiến trúc chuẩn.</a:t>
            </a:r>
            <a:endParaRPr lang="en-US" sz="1100" dirty="0"/>
          </a:p>
        </p:txBody>
      </p:sp>
      <p:sp>
        <p:nvSpPr>
          <p:cNvPr id="8" name="Shape 6"/>
          <p:cNvSpPr/>
          <p:nvPr/>
        </p:nvSpPr>
        <p:spPr>
          <a:xfrm>
            <a:off x="4343400" y="1554480"/>
            <a:ext cx="3429000" cy="2011680"/>
          </a:xfrm>
          <a:prstGeom prst="roundRect">
            <a:avLst>
              <a:gd name="adj" fmla="val 4545"/>
            </a:avLst>
          </a:prstGeom>
          <a:solidFill>
            <a:srgbClr val="F0FDF4"/>
          </a:solidFill>
          <a:ln w="12700">
            <a:solidFill>
              <a:srgbClr val="BBF7D0"/>
            </a:solidFill>
            <a:prstDash val="solid"/>
          </a:ln>
        </p:spPr>
      </p:sp>
      <p:sp>
        <p:nvSpPr>
          <p:cNvPr id="9" name="Text 7"/>
          <p:cNvSpPr/>
          <p:nvPr/>
        </p:nvSpPr>
        <p:spPr>
          <a:xfrm>
            <a:off x="4526280" y="1737360"/>
            <a:ext cx="3063240" cy="411480"/>
          </a:xfrm>
          <a:prstGeom prst="rect">
            <a:avLst/>
          </a:prstGeom>
          <a:noFill/>
          <a:ln/>
        </p:spPr>
        <p:txBody>
          <a:bodyPr wrap="square" rtlCol="0" anchor="ctr"/>
          <a:lstStyle/>
          <a:p>
            <a:pPr marL="0" indent="0">
              <a:buNone/>
            </a:pPr>
            <a:r>
              <a:rPr lang="en-US" sz="1200" b="1" dirty="0">
                <a:solidFill>
                  <a:srgbClr val="15803D"/>
                </a:solidFill>
                <a:latin typeface="Arial" pitchFamily="34" charset="0"/>
                <a:ea typeface="Arial" pitchFamily="34" charset="-122"/>
                <a:cs typeface="Arial" pitchFamily="34" charset="-120"/>
              </a:rPr>
              <a:t>✔ Phân rã module &amp; Quản lý Git</a:t>
            </a:r>
            <a:endParaRPr lang="en-US" sz="1200" dirty="0"/>
          </a:p>
        </p:txBody>
      </p:sp>
      <p:sp>
        <p:nvSpPr>
          <p:cNvPr id="10" name="Text 8"/>
          <p:cNvSpPr/>
          <p:nvPr/>
        </p:nvSpPr>
        <p:spPr>
          <a:xfrm>
            <a:off x="4526280" y="2194560"/>
            <a:ext cx="3063240" cy="118872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Chia nhỏ chức năng lớn thành task nhỏ độc lập; commit thường xuyên để kiểm soát phiên bản và tránh mất mát mã nguồn.</a:t>
            </a:r>
            <a:endParaRPr lang="en-US" sz="1100" dirty="0"/>
          </a:p>
        </p:txBody>
      </p:sp>
      <p:sp>
        <p:nvSpPr>
          <p:cNvPr id="11" name="Shape 9"/>
          <p:cNvSpPr/>
          <p:nvPr/>
        </p:nvSpPr>
        <p:spPr>
          <a:xfrm>
            <a:off x="7955280" y="1554480"/>
            <a:ext cx="3429000" cy="2011680"/>
          </a:xfrm>
          <a:prstGeom prst="roundRect">
            <a:avLst>
              <a:gd name="adj" fmla="val 4545"/>
            </a:avLst>
          </a:prstGeom>
          <a:solidFill>
            <a:srgbClr val="F0FDF4"/>
          </a:solidFill>
          <a:ln w="12700">
            <a:solidFill>
              <a:srgbClr val="BBF7D0"/>
            </a:solidFill>
            <a:prstDash val="solid"/>
          </a:ln>
        </p:spPr>
      </p:sp>
      <p:sp>
        <p:nvSpPr>
          <p:cNvPr id="12" name="Text 10"/>
          <p:cNvSpPr/>
          <p:nvPr/>
        </p:nvSpPr>
        <p:spPr>
          <a:xfrm>
            <a:off x="8138160" y="1737360"/>
            <a:ext cx="3063240" cy="411480"/>
          </a:xfrm>
          <a:prstGeom prst="rect">
            <a:avLst/>
          </a:prstGeom>
          <a:noFill/>
          <a:ln/>
        </p:spPr>
        <p:txBody>
          <a:bodyPr wrap="square" rtlCol="0" anchor="ctr"/>
          <a:lstStyle/>
          <a:p>
            <a:pPr marL="0" indent="0">
              <a:buNone/>
            </a:pPr>
            <a:r>
              <a:rPr lang="en-US" sz="1200" b="1" dirty="0">
                <a:solidFill>
                  <a:srgbClr val="15803D"/>
                </a:solidFill>
                <a:latin typeface="Arial" pitchFamily="34" charset="0"/>
                <a:ea typeface="Arial" pitchFamily="34" charset="-122"/>
                <a:cs typeface="Arial" pitchFamily="34" charset="-120"/>
              </a:rPr>
              <a:t>✔ Giải pháp Webhook HTTPS</a:t>
            </a:r>
            <a:endParaRPr lang="en-US" sz="1200" dirty="0"/>
          </a:p>
        </p:txBody>
      </p:sp>
      <p:sp>
        <p:nvSpPr>
          <p:cNvPr id="13" name="Text 11"/>
          <p:cNvSpPr/>
          <p:nvPr/>
        </p:nvSpPr>
        <p:spPr>
          <a:xfrm>
            <a:off x="8138160" y="2194560"/>
            <a:ext cx="3063240" cy="118872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Khắc phục triệt để lỗi server Cloud chặn cổng SMTP bằng cách tích hợp Google Webhook, đảm bảo email gửi trong 150ms.</a:t>
            </a:r>
            <a:endParaRPr lang="en-US" sz="1100" dirty="0"/>
          </a:p>
        </p:txBody>
      </p:sp>
      <p:sp>
        <p:nvSpPr>
          <p:cNvPr id="14" name="Shape 12"/>
          <p:cNvSpPr/>
          <p:nvPr/>
        </p:nvSpPr>
        <p:spPr>
          <a:xfrm>
            <a:off x="731520" y="3840480"/>
            <a:ext cx="3429000" cy="2011680"/>
          </a:xfrm>
          <a:prstGeom prst="roundRect">
            <a:avLst>
              <a:gd name="adj" fmla="val 4545"/>
            </a:avLst>
          </a:prstGeom>
          <a:solidFill>
            <a:srgbClr val="F0FDF4"/>
          </a:solidFill>
          <a:ln w="12700">
            <a:solidFill>
              <a:srgbClr val="BBF7D0"/>
            </a:solidFill>
            <a:prstDash val="solid"/>
          </a:ln>
        </p:spPr>
      </p:sp>
      <p:sp>
        <p:nvSpPr>
          <p:cNvPr id="15" name="Text 13"/>
          <p:cNvSpPr/>
          <p:nvPr/>
        </p:nvSpPr>
        <p:spPr>
          <a:xfrm>
            <a:off x="914400" y="4023360"/>
            <a:ext cx="3063240" cy="411480"/>
          </a:xfrm>
          <a:prstGeom prst="rect">
            <a:avLst/>
          </a:prstGeom>
          <a:noFill/>
          <a:ln/>
        </p:spPr>
        <p:txBody>
          <a:bodyPr wrap="square" rtlCol="0" anchor="ctr"/>
          <a:lstStyle/>
          <a:p>
            <a:pPr marL="0" indent="0">
              <a:buNone/>
            </a:pPr>
            <a:r>
              <a:rPr lang="en-US" sz="1200" b="1" dirty="0">
                <a:solidFill>
                  <a:srgbClr val="15803D"/>
                </a:solidFill>
                <a:latin typeface="Arial" pitchFamily="34" charset="0"/>
                <a:ea typeface="Arial" pitchFamily="34" charset="-122"/>
                <a:cs typeface="Arial" pitchFamily="34" charset="-120"/>
              </a:rPr>
              <a:t>✔ Kiểm thử đa thiết bị &amp; Responsive</a:t>
            </a:r>
            <a:endParaRPr lang="en-US" sz="1200" dirty="0"/>
          </a:p>
        </p:txBody>
      </p:sp>
      <p:sp>
        <p:nvSpPr>
          <p:cNvPr id="16" name="Text 14"/>
          <p:cNvSpPr/>
          <p:nvPr/>
        </p:nvSpPr>
        <p:spPr>
          <a:xfrm>
            <a:off x="914400" y="4480560"/>
            <a:ext cx="3063240" cy="118872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Kiểm thử kỹ lưỡng trên điện thoại, máy tính bảng và màn hình lớn trước khi phát hành lên môi trường Internet.</a:t>
            </a:r>
            <a:endParaRPr lang="en-US" sz="1100" dirty="0"/>
          </a:p>
        </p:txBody>
      </p:sp>
      <p:sp>
        <p:nvSpPr>
          <p:cNvPr id="17" name="Shape 15"/>
          <p:cNvSpPr/>
          <p:nvPr/>
        </p:nvSpPr>
        <p:spPr>
          <a:xfrm>
            <a:off x="4343400" y="3840480"/>
            <a:ext cx="3429000" cy="2011680"/>
          </a:xfrm>
          <a:prstGeom prst="roundRect">
            <a:avLst>
              <a:gd name="adj" fmla="val 4545"/>
            </a:avLst>
          </a:prstGeom>
          <a:solidFill>
            <a:srgbClr val="F0FDF4"/>
          </a:solidFill>
          <a:ln w="12700">
            <a:solidFill>
              <a:srgbClr val="BBF7D0"/>
            </a:solidFill>
            <a:prstDash val="solid"/>
          </a:ln>
        </p:spPr>
      </p:sp>
      <p:sp>
        <p:nvSpPr>
          <p:cNvPr id="18" name="Text 16"/>
          <p:cNvSpPr/>
          <p:nvPr/>
        </p:nvSpPr>
        <p:spPr>
          <a:xfrm>
            <a:off x="4526280" y="4023360"/>
            <a:ext cx="3063240" cy="411480"/>
          </a:xfrm>
          <a:prstGeom prst="rect">
            <a:avLst/>
          </a:prstGeom>
          <a:noFill/>
          <a:ln/>
        </p:spPr>
        <p:txBody>
          <a:bodyPr wrap="square" rtlCol="0" anchor="ctr"/>
          <a:lstStyle/>
          <a:p>
            <a:pPr marL="0" indent="0">
              <a:buNone/>
            </a:pPr>
            <a:r>
              <a:rPr lang="en-US" sz="1200" b="1" dirty="0">
                <a:solidFill>
                  <a:srgbClr val="15803D"/>
                </a:solidFill>
                <a:latin typeface="Arial" pitchFamily="34" charset="0"/>
                <a:ea typeface="Arial" pitchFamily="34" charset="-122"/>
                <a:cs typeface="Arial" pitchFamily="34" charset="-120"/>
              </a:rPr>
              <a:t>✔ Lắng nghe phản hồi thực tế</a:t>
            </a:r>
            <a:endParaRPr lang="en-US" sz="1200" dirty="0"/>
          </a:p>
        </p:txBody>
      </p:sp>
      <p:sp>
        <p:nvSpPr>
          <p:cNvPr id="19" name="Text 17"/>
          <p:cNvSpPr/>
          <p:nvPr/>
        </p:nvSpPr>
        <p:spPr>
          <a:xfrm>
            <a:off x="4526280" y="4480560"/>
            <a:ext cx="3063240" cy="118872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Tổng hợp các thắc mắc từ quá trình chăm sóc khách hàng để cập nhật kịch bản AI và tinh chỉnh giao diện người dùng.</a:t>
            </a:r>
            <a:endParaRPr lang="en-US" sz="1100" dirty="0"/>
          </a:p>
        </p:txBody>
      </p:sp>
      <p:sp>
        <p:nvSpPr>
          <p:cNvPr id="20" name="Shape 18"/>
          <p:cNvSpPr/>
          <p:nvPr/>
        </p:nvSpPr>
        <p:spPr>
          <a:xfrm>
            <a:off x="7955280" y="3840480"/>
            <a:ext cx="3429000" cy="2011680"/>
          </a:xfrm>
          <a:prstGeom prst="roundRect">
            <a:avLst>
              <a:gd name="adj" fmla="val 4545"/>
            </a:avLst>
          </a:prstGeom>
          <a:solidFill>
            <a:srgbClr val="F0FDF4"/>
          </a:solidFill>
          <a:ln w="12700">
            <a:solidFill>
              <a:srgbClr val="BBF7D0"/>
            </a:solidFill>
            <a:prstDash val="solid"/>
          </a:ln>
        </p:spPr>
      </p:sp>
      <p:sp>
        <p:nvSpPr>
          <p:cNvPr id="21" name="Text 19"/>
          <p:cNvSpPr/>
          <p:nvPr/>
        </p:nvSpPr>
        <p:spPr>
          <a:xfrm>
            <a:off x="8138160" y="4023360"/>
            <a:ext cx="3063240" cy="411480"/>
          </a:xfrm>
          <a:prstGeom prst="rect">
            <a:avLst/>
          </a:prstGeom>
          <a:noFill/>
          <a:ln/>
        </p:spPr>
        <p:txBody>
          <a:bodyPr wrap="square" rtlCol="0" anchor="ctr"/>
          <a:lstStyle/>
          <a:p>
            <a:pPr marL="0" indent="0">
              <a:buNone/>
            </a:pPr>
            <a:r>
              <a:rPr lang="en-US" sz="1200" b="1" dirty="0">
                <a:solidFill>
                  <a:srgbClr val="15803D"/>
                </a:solidFill>
                <a:latin typeface="Arial" pitchFamily="34" charset="0"/>
                <a:ea typeface="Arial" pitchFamily="34" charset="-122"/>
                <a:cs typeface="Arial" pitchFamily="34" charset="-120"/>
              </a:rPr>
              <a:t>✔ Chẩn đoán lỗi bài bản</a:t>
            </a:r>
            <a:endParaRPr lang="en-US" sz="1200" dirty="0"/>
          </a:p>
        </p:txBody>
      </p:sp>
      <p:sp>
        <p:nvSpPr>
          <p:cNvPr id="22" name="Text 20"/>
          <p:cNvSpPr/>
          <p:nvPr/>
        </p:nvSpPr>
        <p:spPr>
          <a:xfrm>
            <a:off x="8138160" y="4480560"/>
            <a:ext cx="3063240" cy="1188720"/>
          </a:xfrm>
          <a:prstGeom prst="rect">
            <a:avLst/>
          </a:prstGeom>
          <a:noFill/>
          <a:ln/>
        </p:spPr>
        <p:txBody>
          <a:bodyPr wrap="square" rtlCol="0" anchor="ctr"/>
          <a:lstStyle/>
          <a:p>
            <a:pPr marL="0" indent="0">
              <a:buNone/>
            </a:pPr>
            <a:r>
              <a:rPr lang="en-US" sz="1100" dirty="0">
                <a:solidFill>
                  <a:srgbClr val="1E293B"/>
                </a:solidFill>
                <a:latin typeface="Arial" pitchFamily="34" charset="0"/>
                <a:ea typeface="Arial" pitchFamily="34" charset="-122"/>
                <a:cs typeface="Arial" pitchFamily="34" charset="-120"/>
              </a:rPr>
              <a:t>Rèn luyện quy trình đọc log lỗi hai chiều (Client &amp; Server) để tìm nguyên nhân gốc rễ trước khi tiến hành sửa mã nguồn.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3. ĐỊNH HƯỚNG ĐỀ TÀI</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3.1 - 3.3. Tên đề tài &amp; Mục tiêu nghiên cứu</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731520" y="1463040"/>
            <a:ext cx="10698480" cy="1097280"/>
          </a:xfrm>
          <a:prstGeom prst="roundRect">
            <a:avLst>
              <a:gd name="adj" fmla="val 8333"/>
            </a:avLst>
          </a:prstGeom>
          <a:solidFill>
            <a:srgbClr val="EFF6FF"/>
          </a:solidFill>
          <a:ln w="25400">
            <a:solidFill>
              <a:srgbClr val="2563EB"/>
            </a:solidFill>
            <a:prstDash val="solid"/>
          </a:ln>
        </p:spPr>
      </p:sp>
      <p:sp>
        <p:nvSpPr>
          <p:cNvPr id="6" name="Text 4"/>
          <p:cNvSpPr/>
          <p:nvPr/>
        </p:nvSpPr>
        <p:spPr>
          <a:xfrm>
            <a:off x="1005840" y="1554480"/>
            <a:ext cx="10241280" cy="914400"/>
          </a:xfrm>
          <a:prstGeom prst="rect">
            <a:avLst/>
          </a:prstGeom>
          <a:noFill/>
          <a:ln/>
        </p:spPr>
        <p:txBody>
          <a:bodyPr wrap="square" rtlCol="0" anchor="ctr"/>
          <a:lstStyle/>
          <a:p>
            <a:pPr marL="0" indent="0" algn="ctr">
              <a:buNone/>
            </a:pPr>
            <a:r>
              <a:rPr lang="en-US" sz="1100" b="1" dirty="0">
                <a:solidFill>
                  <a:srgbClr val="2563EB"/>
                </a:solidFill>
                <a:latin typeface="Arial" pitchFamily="34" charset="0"/>
                <a:ea typeface="Arial" pitchFamily="34" charset="-122"/>
                <a:cs typeface="Arial" pitchFamily="34" charset="-120"/>
              </a:rPr>
              <a:t>TÊN ĐỀ TÀI CHÍNH THỨC:
</a:t>
            </a:r>
            <a:r>
              <a:rPr lang="en-US" sz="1500" b="1" dirty="0">
                <a:solidFill>
                  <a:srgbClr val="1E293B"/>
                </a:solidFill>
                <a:latin typeface="Arial" pitchFamily="34" charset="0"/>
                <a:ea typeface="Arial" pitchFamily="34" charset="-122"/>
                <a:cs typeface="Arial" pitchFamily="34" charset="-120"/>
              </a:rPr>
              <a:t>“PHÁT TRIỂN VÀ NÂNG CẤP WEBSITE CÔNG TY THANG MÁY HÀ HỒNG</a:t>
            </a:r>
            <a:endParaRPr lang="en-US" sz="1100" dirty="0"/>
          </a:p>
          <a:p>
            <a:pPr marL="0" indent="0" algn="ctr">
              <a:buNone/>
            </a:pPr>
            <a:r>
              <a:rPr lang="en-US" sz="1500" b="1" dirty="0">
                <a:solidFill>
                  <a:srgbClr val="1E293B"/>
                </a:solidFill>
                <a:latin typeface="Arial" pitchFamily="34" charset="0"/>
                <a:ea typeface="Arial" pitchFamily="34" charset="-122"/>
                <a:cs typeface="Arial" pitchFamily="34" charset="-120"/>
              </a:rPr>
              <a:t>TÍCH HỢP AI VÀ HỆ THỐNG DỰ TOÁN BÁO GIÁ”</a:t>
            </a:r>
            <a:endParaRPr lang="en-US" sz="1100" dirty="0"/>
          </a:p>
        </p:txBody>
      </p:sp>
      <p:sp>
        <p:nvSpPr>
          <p:cNvPr id="7" name="Shape 5"/>
          <p:cNvSpPr/>
          <p:nvPr/>
        </p:nvSpPr>
        <p:spPr>
          <a:xfrm>
            <a:off x="731520" y="2834640"/>
            <a:ext cx="5120640" cy="3291840"/>
          </a:xfrm>
          <a:prstGeom prst="roundRect">
            <a:avLst>
              <a:gd name="adj" fmla="val 2778"/>
            </a:avLst>
          </a:prstGeom>
          <a:solidFill>
            <a:srgbClr val="FFFFFF"/>
          </a:solidFill>
          <a:ln w="12700">
            <a:solidFill>
              <a:srgbClr val="E2E8F0"/>
            </a:solidFill>
            <a:prstDash val="solid"/>
          </a:ln>
        </p:spPr>
      </p:sp>
      <p:sp>
        <p:nvSpPr>
          <p:cNvPr id="8" name="Text 6"/>
          <p:cNvSpPr/>
          <p:nvPr/>
        </p:nvSpPr>
        <p:spPr>
          <a:xfrm>
            <a:off x="1005840" y="3017520"/>
            <a:ext cx="4572000" cy="2926080"/>
          </a:xfrm>
          <a:prstGeom prst="rect">
            <a:avLst/>
          </a:prstGeom>
          <a:noFill/>
          <a:ln/>
        </p:spPr>
        <p:txBody>
          <a:bodyPr wrap="square" rtlCol="0" anchor="ctr"/>
          <a:lstStyle/>
          <a:p>
            <a:pPr marL="0" indent="0">
              <a:buNone/>
            </a:pPr>
            <a:r>
              <a:rPr lang="en-US" sz="1300" b="1" dirty="0">
                <a:solidFill>
                  <a:srgbClr val="D97706"/>
                </a:solidFill>
                <a:latin typeface="Arial" pitchFamily="34" charset="0"/>
                <a:ea typeface="Arial" pitchFamily="34" charset="-122"/>
                <a:cs typeface="Arial" pitchFamily="34" charset="-120"/>
              </a:rPr>
              <a:t>LÝ DO CHỌN ĐỀ TÀI
</a:t>
            </a:r>
            <a:r>
              <a:rPr lang="en-US" sz="1150" b="1" dirty="0">
                <a:solidFill>
                  <a:srgbClr val="1E293B"/>
                </a:solidFill>
                <a:latin typeface="Arial" pitchFamily="34" charset="0"/>
                <a:ea typeface="Arial" pitchFamily="34" charset="-122"/>
                <a:cs typeface="Arial" pitchFamily="34" charset="-120"/>
              </a:rPr>
              <a:t>• Yêu cầu chuyển đổi số: </a:t>
            </a:r>
            <a:r>
              <a:rPr lang="en-US" sz="1150" dirty="0">
                <a:solidFill>
                  <a:srgbClr val="475569"/>
                </a:solidFill>
                <a:latin typeface="Arial" pitchFamily="34" charset="0"/>
                <a:ea typeface="Arial" pitchFamily="34" charset="-122"/>
                <a:cs typeface="Arial" pitchFamily="34" charset="-120"/>
              </a:rPr>
              <a:t>Website là kênh giới thiệu thương hiệu và tiếp cận khách hàng trọng tâm.
</a:t>
            </a:r>
            <a:r>
              <a:rPr lang="en-US" sz="1150" b="1" dirty="0">
                <a:solidFill>
                  <a:srgbClr val="1E293B"/>
                </a:solidFill>
                <a:latin typeface="Arial" pitchFamily="34" charset="0"/>
                <a:ea typeface="Arial" pitchFamily="34" charset="-122"/>
                <a:cs typeface="Arial" pitchFamily="34" charset="-120"/>
              </a:rPr>
              <a:t>• Giải quyết bài toán thực tế: </a:t>
            </a:r>
            <a:r>
              <a:rPr lang="en-US" sz="1150" dirty="0">
                <a:solidFill>
                  <a:srgbClr val="475569"/>
                </a:solidFill>
                <a:latin typeface="Arial" pitchFamily="34" charset="0"/>
                <a:ea typeface="Arial" pitchFamily="34" charset="-122"/>
                <a:cs typeface="Arial" pitchFamily="34" charset="-120"/>
              </a:rPr>
              <a:t>Giúp khách hàng tự ước tính chi phí, tìm hiểu thông số kỹ thuật và nhận tư vấn nhanh qua AI.
</a:t>
            </a:r>
            <a:r>
              <a:rPr lang="en-US" sz="1150" b="1" dirty="0">
                <a:solidFill>
                  <a:srgbClr val="1E293B"/>
                </a:solidFill>
                <a:latin typeface="Arial" pitchFamily="34" charset="0"/>
                <a:ea typeface="Arial" pitchFamily="34" charset="-122"/>
                <a:cs typeface="Arial" pitchFamily="34" charset="-120"/>
              </a:rPr>
              <a:t>• Giảm tải chi phí nhân lực: </a:t>
            </a:r>
            <a:r>
              <a:rPr lang="en-US" sz="1150" dirty="0">
                <a:solidFill>
                  <a:srgbClr val="475569"/>
                </a:solidFill>
                <a:latin typeface="Arial" pitchFamily="34" charset="0"/>
                <a:ea typeface="Arial" pitchFamily="34" charset="-122"/>
                <a:cs typeface="Arial" pitchFamily="34" charset="-120"/>
              </a:rPr>
              <a:t>Tối ưu hóa quy trình tư vấn thủ công, nâng cao tỷ lệ chuyển đổi khách hàng tiềm năng.</a:t>
            </a:r>
            <a:endParaRPr lang="en-US" sz="1150" dirty="0"/>
          </a:p>
        </p:txBody>
      </p:sp>
      <p:sp>
        <p:nvSpPr>
          <p:cNvPr id="9" name="Shape 7"/>
          <p:cNvSpPr/>
          <p:nvPr/>
        </p:nvSpPr>
        <p:spPr>
          <a:xfrm>
            <a:off x="6309360" y="2834640"/>
            <a:ext cx="5120640" cy="3291840"/>
          </a:xfrm>
          <a:prstGeom prst="roundRect">
            <a:avLst>
              <a:gd name="adj" fmla="val 2778"/>
            </a:avLst>
          </a:prstGeom>
          <a:solidFill>
            <a:srgbClr val="FFFFFF"/>
          </a:solidFill>
          <a:ln w="12700">
            <a:solidFill>
              <a:srgbClr val="E2E8F0"/>
            </a:solidFill>
            <a:prstDash val="solid"/>
          </a:ln>
        </p:spPr>
      </p:sp>
      <p:sp>
        <p:nvSpPr>
          <p:cNvPr id="10" name="Text 8"/>
          <p:cNvSpPr/>
          <p:nvPr/>
        </p:nvSpPr>
        <p:spPr>
          <a:xfrm>
            <a:off x="6583680" y="3017520"/>
            <a:ext cx="4572000" cy="2926080"/>
          </a:xfrm>
          <a:prstGeom prst="rect">
            <a:avLst/>
          </a:prstGeom>
          <a:noFill/>
          <a:ln/>
        </p:spPr>
        <p:txBody>
          <a:bodyPr wrap="square" rtlCol="0" anchor="ctr"/>
          <a:lstStyle/>
          <a:p>
            <a:pPr marL="0" indent="0">
              <a:buNone/>
            </a:pPr>
            <a:r>
              <a:rPr lang="en-US" sz="1300" b="1" dirty="0">
                <a:solidFill>
                  <a:srgbClr val="2563EB"/>
                </a:solidFill>
                <a:latin typeface="Arial" pitchFamily="34" charset="0"/>
                <a:ea typeface="Arial" pitchFamily="34" charset="-122"/>
                <a:cs typeface="Arial" pitchFamily="34" charset="-120"/>
              </a:rPr>
              <a:t>MỤC TIÊU CỤ THỂ
</a:t>
            </a:r>
            <a:r>
              <a:rPr lang="en-US" sz="1150" dirty="0">
                <a:solidFill>
                  <a:srgbClr val="1E293B"/>
                </a:solidFill>
                <a:latin typeface="Arial" pitchFamily="34" charset="0"/>
                <a:ea typeface="Arial" pitchFamily="34" charset="-122"/>
                <a:cs typeface="Arial" pitchFamily="34" charset="-120"/>
              </a:rPr>
              <a:t>✔ Hoàn thiện và duy trì hệ thống website giới thiệu ổn định, chuẩn SEO.
✔ Nâng cấp bộ phối cảnh Cabin trực quan (Visual Cabin Customizer).
✔ Xây dựng Dashboard quản trị kinh doanh &amp; xuất file báo giá PDF chuyên nghiệp.
✔ Tự động hóa gửi thông báo khách hàng (Lead) qua Telegram Bot.
✔ Nghiên cứu ứng dụng AI Vision phân tích ảnh bản vẽ hố thang.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3. ĐỊNH HƯỚNG ĐỀ TÀI</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3.5.2. Bốn trọng tâm nâng cấp giai đoạn tới</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731520" y="1554480"/>
            <a:ext cx="5120640" cy="2011680"/>
          </a:xfrm>
          <a:prstGeom prst="roundRect">
            <a:avLst>
              <a:gd name="adj" fmla="val 4545"/>
            </a:avLst>
          </a:prstGeom>
          <a:solidFill>
            <a:srgbClr val="FFFFFF"/>
          </a:solidFill>
          <a:ln w="12700">
            <a:solidFill>
              <a:srgbClr val="E2E8F0"/>
            </a:solidFill>
            <a:prstDash val="solid"/>
          </a:ln>
        </p:spPr>
      </p:sp>
      <p:sp>
        <p:nvSpPr>
          <p:cNvPr id="6" name="Shape 4"/>
          <p:cNvSpPr/>
          <p:nvPr/>
        </p:nvSpPr>
        <p:spPr>
          <a:xfrm>
            <a:off x="960120" y="1783080"/>
            <a:ext cx="685800" cy="685800"/>
          </a:xfrm>
          <a:prstGeom prst="roundRect">
            <a:avLst>
              <a:gd name="adj" fmla="val 13333"/>
            </a:avLst>
          </a:prstGeom>
          <a:solidFill>
            <a:srgbClr val="FEF3C7"/>
          </a:solidFill>
          <a:ln w="12700">
            <a:solidFill>
              <a:srgbClr val="D97706"/>
            </a:solidFill>
            <a:prstDash val="solid"/>
          </a:ln>
        </p:spPr>
      </p:sp>
      <p:sp>
        <p:nvSpPr>
          <p:cNvPr id="7" name="Text 5"/>
          <p:cNvSpPr/>
          <p:nvPr/>
        </p:nvSpPr>
        <p:spPr>
          <a:xfrm>
            <a:off x="960120" y="1783080"/>
            <a:ext cx="685800" cy="6858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783080" y="1783080"/>
            <a:ext cx="374904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1. Visual Cabin Customizer</a:t>
            </a:r>
            <a:endParaRPr lang="en-US" sz="1300" dirty="0"/>
          </a:p>
        </p:txBody>
      </p:sp>
      <p:sp>
        <p:nvSpPr>
          <p:cNvPr id="9" name="Text 7"/>
          <p:cNvSpPr/>
          <p:nvPr/>
        </p:nvSpPr>
        <p:spPr>
          <a:xfrm>
            <a:off x="1783080" y="2103120"/>
            <a:ext cx="3749040" cy="274320"/>
          </a:xfrm>
          <a:prstGeom prst="rect">
            <a:avLst/>
          </a:prstGeom>
          <a:noFill/>
          <a:ln/>
        </p:spPr>
        <p:txBody>
          <a:bodyPr wrap="square" rtlCol="0" anchor="ctr"/>
          <a:lstStyle/>
          <a:p>
            <a:pPr marL="0" indent="0">
              <a:buNone/>
            </a:pPr>
            <a:r>
              <a:rPr lang="en-US" sz="1100" b="1" dirty="0">
                <a:solidFill>
                  <a:srgbClr val="2563EB"/>
                </a:solidFill>
                <a:latin typeface="Arial" pitchFamily="34" charset="0"/>
                <a:ea typeface="Arial" pitchFamily="34" charset="-122"/>
                <a:cs typeface="Arial" pitchFamily="34" charset="-120"/>
              </a:rPr>
              <a:t>Phối cảnh Cabin trực quan</a:t>
            </a:r>
            <a:endParaRPr lang="en-US" sz="1100" dirty="0"/>
          </a:p>
        </p:txBody>
      </p:sp>
      <p:sp>
        <p:nvSpPr>
          <p:cNvPr id="10" name="Text 8"/>
          <p:cNvSpPr/>
          <p:nvPr/>
        </p:nvSpPr>
        <p:spPr>
          <a:xfrm>
            <a:off x="1783080" y="2423160"/>
            <a:ext cx="3749040" cy="1005840"/>
          </a:xfrm>
          <a:prstGeom prst="rect">
            <a:avLst/>
          </a:prstGeom>
          <a:noFill/>
          <a:ln/>
        </p:spPr>
        <p:txBody>
          <a:bodyPr wrap="square" rtlCol="0" anchor="ctr"/>
          <a:lstStyle/>
          <a:p>
            <a:pPr marL="0" indent="0">
              <a:buNone/>
            </a:pPr>
            <a:r>
              <a:rPr lang="en-US" sz="1050" dirty="0">
                <a:solidFill>
                  <a:srgbClr val="475569"/>
                </a:solidFill>
                <a:latin typeface="Arial" pitchFamily="34" charset="0"/>
                <a:ea typeface="Arial" pitchFamily="34" charset="-122"/>
                <a:cs typeface="Arial" pitchFamily="34" charset="-120"/>
              </a:rPr>
              <a:t>Cho phép khách hàng lựa chọn vách kính, inox gương vàng, sàn đá, trần LED; hiển thị thay đổi trực tiếp ngay trên trang dự toán.</a:t>
            </a:r>
            <a:endParaRPr lang="en-US" sz="1050" dirty="0"/>
          </a:p>
        </p:txBody>
      </p:sp>
      <p:sp>
        <p:nvSpPr>
          <p:cNvPr id="11" name="Shape 9"/>
          <p:cNvSpPr/>
          <p:nvPr/>
        </p:nvSpPr>
        <p:spPr>
          <a:xfrm>
            <a:off x="6126480" y="1554480"/>
            <a:ext cx="5120640" cy="2011680"/>
          </a:xfrm>
          <a:prstGeom prst="roundRect">
            <a:avLst>
              <a:gd name="adj" fmla="val 4545"/>
            </a:avLst>
          </a:prstGeom>
          <a:solidFill>
            <a:srgbClr val="FFFFFF"/>
          </a:solidFill>
          <a:ln w="12700">
            <a:solidFill>
              <a:srgbClr val="E2E8F0"/>
            </a:solidFill>
            <a:prstDash val="solid"/>
          </a:ln>
        </p:spPr>
      </p:sp>
      <p:sp>
        <p:nvSpPr>
          <p:cNvPr id="12" name="Shape 10"/>
          <p:cNvSpPr/>
          <p:nvPr/>
        </p:nvSpPr>
        <p:spPr>
          <a:xfrm>
            <a:off x="6355080" y="1783080"/>
            <a:ext cx="685800" cy="685800"/>
          </a:xfrm>
          <a:prstGeom prst="roundRect">
            <a:avLst>
              <a:gd name="adj" fmla="val 13333"/>
            </a:avLst>
          </a:prstGeom>
          <a:solidFill>
            <a:srgbClr val="FEF3C7"/>
          </a:solidFill>
          <a:ln w="12700">
            <a:solidFill>
              <a:srgbClr val="D97706"/>
            </a:solidFill>
            <a:prstDash val="solid"/>
          </a:ln>
        </p:spPr>
      </p:sp>
      <p:sp>
        <p:nvSpPr>
          <p:cNvPr id="13" name="Text 11"/>
          <p:cNvSpPr/>
          <p:nvPr/>
        </p:nvSpPr>
        <p:spPr>
          <a:xfrm>
            <a:off x="6355080" y="1783080"/>
            <a:ext cx="685800" cy="6858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7178040" y="1783080"/>
            <a:ext cx="374904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2. Gemini Multimodal Vision</a:t>
            </a:r>
            <a:endParaRPr lang="en-US" sz="1300" dirty="0"/>
          </a:p>
        </p:txBody>
      </p:sp>
      <p:sp>
        <p:nvSpPr>
          <p:cNvPr id="15" name="Text 13"/>
          <p:cNvSpPr/>
          <p:nvPr/>
        </p:nvSpPr>
        <p:spPr>
          <a:xfrm>
            <a:off x="7178040" y="2103120"/>
            <a:ext cx="3749040" cy="274320"/>
          </a:xfrm>
          <a:prstGeom prst="rect">
            <a:avLst/>
          </a:prstGeom>
          <a:noFill/>
          <a:ln/>
        </p:spPr>
        <p:txBody>
          <a:bodyPr wrap="square" rtlCol="0" anchor="ctr"/>
          <a:lstStyle/>
          <a:p>
            <a:pPr marL="0" indent="0">
              <a:buNone/>
            </a:pPr>
            <a:r>
              <a:rPr lang="en-US" sz="1100" b="1" dirty="0">
                <a:solidFill>
                  <a:srgbClr val="2563EB"/>
                </a:solidFill>
                <a:latin typeface="Arial" pitchFamily="34" charset="0"/>
                <a:ea typeface="Arial" pitchFamily="34" charset="-122"/>
                <a:cs typeface="Arial" pitchFamily="34" charset="-120"/>
              </a:rPr>
              <a:t>AI đọc ảnh bản vẽ / Hiện trạng</a:t>
            </a:r>
            <a:endParaRPr lang="en-US" sz="1100" dirty="0"/>
          </a:p>
        </p:txBody>
      </p:sp>
      <p:sp>
        <p:nvSpPr>
          <p:cNvPr id="16" name="Text 14"/>
          <p:cNvSpPr/>
          <p:nvPr/>
        </p:nvSpPr>
        <p:spPr>
          <a:xfrm>
            <a:off x="7178040" y="2423160"/>
            <a:ext cx="3749040" cy="1005840"/>
          </a:xfrm>
          <a:prstGeom prst="rect">
            <a:avLst/>
          </a:prstGeom>
          <a:noFill/>
          <a:ln/>
        </p:spPr>
        <p:txBody>
          <a:bodyPr wrap="square" rtlCol="0" anchor="ctr"/>
          <a:lstStyle/>
          <a:p>
            <a:pPr marL="0" indent="0">
              <a:buNone/>
            </a:pPr>
            <a:r>
              <a:rPr lang="en-US" sz="1050" dirty="0">
                <a:solidFill>
                  <a:srgbClr val="475569"/>
                </a:solidFill>
                <a:latin typeface="Arial" pitchFamily="34" charset="0"/>
                <a:ea typeface="Arial" pitchFamily="34" charset="-122"/>
                <a:cs typeface="Arial" pitchFamily="34" charset="-120"/>
              </a:rPr>
              <a:t>Nghiên cứu ứng dụng AI Vision để nhận diện kích thước ô chừa thang từ ảnh bản vẽ thiết kế hoặc ảnh hiện trạng công trình.</a:t>
            </a:r>
            <a:endParaRPr lang="en-US" sz="1050" dirty="0"/>
          </a:p>
        </p:txBody>
      </p:sp>
      <p:sp>
        <p:nvSpPr>
          <p:cNvPr id="17" name="Shape 15"/>
          <p:cNvSpPr/>
          <p:nvPr/>
        </p:nvSpPr>
        <p:spPr>
          <a:xfrm>
            <a:off x="731520" y="3840480"/>
            <a:ext cx="5120640" cy="2011680"/>
          </a:xfrm>
          <a:prstGeom prst="roundRect">
            <a:avLst>
              <a:gd name="adj" fmla="val 4545"/>
            </a:avLst>
          </a:prstGeom>
          <a:solidFill>
            <a:srgbClr val="FFFFFF"/>
          </a:solidFill>
          <a:ln w="12700">
            <a:solidFill>
              <a:srgbClr val="E2E8F0"/>
            </a:solidFill>
            <a:prstDash val="solid"/>
          </a:ln>
        </p:spPr>
      </p:sp>
      <p:sp>
        <p:nvSpPr>
          <p:cNvPr id="18" name="Shape 16"/>
          <p:cNvSpPr/>
          <p:nvPr/>
        </p:nvSpPr>
        <p:spPr>
          <a:xfrm>
            <a:off x="960120" y="4069080"/>
            <a:ext cx="685800" cy="685800"/>
          </a:xfrm>
          <a:prstGeom prst="roundRect">
            <a:avLst>
              <a:gd name="adj" fmla="val 13333"/>
            </a:avLst>
          </a:prstGeom>
          <a:solidFill>
            <a:srgbClr val="FEF3C7"/>
          </a:solidFill>
          <a:ln w="12700">
            <a:solidFill>
              <a:srgbClr val="D97706"/>
            </a:solidFill>
            <a:prstDash val="solid"/>
          </a:ln>
        </p:spPr>
      </p:sp>
      <p:sp>
        <p:nvSpPr>
          <p:cNvPr id="19" name="Text 17"/>
          <p:cNvSpPr/>
          <p:nvPr/>
        </p:nvSpPr>
        <p:spPr>
          <a:xfrm>
            <a:off x="960120" y="4069080"/>
            <a:ext cx="685800" cy="6858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1783080" y="4069080"/>
            <a:ext cx="374904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3. Dashboard &amp; Xuất PDF</a:t>
            </a:r>
            <a:endParaRPr lang="en-US" sz="1300" dirty="0"/>
          </a:p>
        </p:txBody>
      </p:sp>
      <p:sp>
        <p:nvSpPr>
          <p:cNvPr id="21" name="Text 19"/>
          <p:cNvSpPr/>
          <p:nvPr/>
        </p:nvSpPr>
        <p:spPr>
          <a:xfrm>
            <a:off x="1783080" y="4389120"/>
            <a:ext cx="3749040" cy="274320"/>
          </a:xfrm>
          <a:prstGeom prst="rect">
            <a:avLst/>
          </a:prstGeom>
          <a:noFill/>
          <a:ln/>
        </p:spPr>
        <p:txBody>
          <a:bodyPr wrap="square" rtlCol="0" anchor="ctr"/>
          <a:lstStyle/>
          <a:p>
            <a:pPr marL="0" indent="0">
              <a:buNone/>
            </a:pPr>
            <a:r>
              <a:rPr lang="en-US" sz="1100" b="1" dirty="0">
                <a:solidFill>
                  <a:srgbClr val="2563EB"/>
                </a:solidFill>
                <a:latin typeface="Arial" pitchFamily="34" charset="0"/>
                <a:ea typeface="Arial" pitchFamily="34" charset="-122"/>
                <a:cs typeface="Arial" pitchFamily="34" charset="-120"/>
              </a:rPr>
              <a:t>Quản trị thống kê kinh doanh</a:t>
            </a:r>
            <a:endParaRPr lang="en-US" sz="1100" dirty="0"/>
          </a:p>
        </p:txBody>
      </p:sp>
      <p:sp>
        <p:nvSpPr>
          <p:cNvPr id="22" name="Text 20"/>
          <p:cNvSpPr/>
          <p:nvPr/>
        </p:nvSpPr>
        <p:spPr>
          <a:xfrm>
            <a:off x="1783080" y="4709160"/>
            <a:ext cx="3749040" cy="1005840"/>
          </a:xfrm>
          <a:prstGeom prst="rect">
            <a:avLst/>
          </a:prstGeom>
          <a:noFill/>
          <a:ln/>
        </p:spPr>
        <p:txBody>
          <a:bodyPr wrap="square" rtlCol="0" anchor="ctr"/>
          <a:lstStyle/>
          <a:p>
            <a:pPr marL="0" indent="0">
              <a:buNone/>
            </a:pPr>
            <a:r>
              <a:rPr lang="en-US" sz="1050" dirty="0">
                <a:solidFill>
                  <a:srgbClr val="475569"/>
                </a:solidFill>
                <a:latin typeface="Arial" pitchFamily="34" charset="0"/>
                <a:ea typeface="Arial" pitchFamily="34" charset="-122"/>
                <a:cs typeface="Arial" pitchFamily="34" charset="-120"/>
              </a:rPr>
              <a:t>Biểu đồ trực quan theo dõi lượng dự toán, xu hướng dòng thang, tỷ lệ xử lý lead và xuất file báo giá PDF chuẩn gửi khách.</a:t>
            </a:r>
            <a:endParaRPr lang="en-US" sz="1050" dirty="0"/>
          </a:p>
        </p:txBody>
      </p:sp>
      <p:sp>
        <p:nvSpPr>
          <p:cNvPr id="23" name="Shape 21"/>
          <p:cNvSpPr/>
          <p:nvPr/>
        </p:nvSpPr>
        <p:spPr>
          <a:xfrm>
            <a:off x="6126480" y="3840480"/>
            <a:ext cx="5120640" cy="2011680"/>
          </a:xfrm>
          <a:prstGeom prst="roundRect">
            <a:avLst>
              <a:gd name="adj" fmla="val 4545"/>
            </a:avLst>
          </a:prstGeom>
          <a:solidFill>
            <a:srgbClr val="FFFFFF"/>
          </a:solidFill>
          <a:ln w="12700">
            <a:solidFill>
              <a:srgbClr val="E2E8F0"/>
            </a:solidFill>
            <a:prstDash val="solid"/>
          </a:ln>
        </p:spPr>
      </p:sp>
      <p:sp>
        <p:nvSpPr>
          <p:cNvPr id="24" name="Shape 22"/>
          <p:cNvSpPr/>
          <p:nvPr/>
        </p:nvSpPr>
        <p:spPr>
          <a:xfrm>
            <a:off x="6355080" y="4069080"/>
            <a:ext cx="685800" cy="685800"/>
          </a:xfrm>
          <a:prstGeom prst="roundRect">
            <a:avLst>
              <a:gd name="adj" fmla="val 13333"/>
            </a:avLst>
          </a:prstGeom>
          <a:solidFill>
            <a:srgbClr val="FEF3C7"/>
          </a:solidFill>
          <a:ln w="12700">
            <a:solidFill>
              <a:srgbClr val="D97706"/>
            </a:solidFill>
            <a:prstDash val="solid"/>
          </a:ln>
        </p:spPr>
      </p:sp>
      <p:sp>
        <p:nvSpPr>
          <p:cNvPr id="25" name="Text 23"/>
          <p:cNvSpPr/>
          <p:nvPr/>
        </p:nvSpPr>
        <p:spPr>
          <a:xfrm>
            <a:off x="6355080" y="4069080"/>
            <a:ext cx="685800" cy="6858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7178040" y="4069080"/>
            <a:ext cx="3749040" cy="320040"/>
          </a:xfrm>
          <a:prstGeom prst="rect">
            <a:avLst/>
          </a:prstGeom>
          <a:noFill/>
          <a:ln/>
        </p:spPr>
        <p:txBody>
          <a:bodyPr wrap="square" rtlCol="0" anchor="ctr"/>
          <a:lstStyle/>
          <a:p>
            <a:pPr marL="0" indent="0">
              <a:buNone/>
            </a:pPr>
            <a:r>
              <a:rPr lang="en-US" sz="1300" b="1" dirty="0">
                <a:solidFill>
                  <a:srgbClr val="1E293B"/>
                </a:solidFill>
                <a:latin typeface="Arial" pitchFamily="34" charset="0"/>
                <a:ea typeface="Arial" pitchFamily="34" charset="-122"/>
                <a:cs typeface="Arial" pitchFamily="34" charset="-120"/>
              </a:rPr>
              <a:t>4. Tự động hóa Telegram Bot</a:t>
            </a:r>
            <a:endParaRPr lang="en-US" sz="1300" dirty="0"/>
          </a:p>
        </p:txBody>
      </p:sp>
      <p:sp>
        <p:nvSpPr>
          <p:cNvPr id="27" name="Text 25"/>
          <p:cNvSpPr/>
          <p:nvPr/>
        </p:nvSpPr>
        <p:spPr>
          <a:xfrm>
            <a:off x="7178040" y="4389120"/>
            <a:ext cx="3749040" cy="274320"/>
          </a:xfrm>
          <a:prstGeom prst="rect">
            <a:avLst/>
          </a:prstGeom>
          <a:noFill/>
          <a:ln/>
        </p:spPr>
        <p:txBody>
          <a:bodyPr wrap="square" rtlCol="0" anchor="ctr"/>
          <a:lstStyle/>
          <a:p>
            <a:pPr marL="0" indent="0">
              <a:buNone/>
            </a:pPr>
            <a:r>
              <a:rPr lang="en-US" sz="1100" b="1" dirty="0">
                <a:solidFill>
                  <a:srgbClr val="2563EB"/>
                </a:solidFill>
                <a:latin typeface="Arial" pitchFamily="34" charset="0"/>
                <a:ea typeface="Arial" pitchFamily="34" charset="-122"/>
                <a:cs typeface="Arial" pitchFamily="34" charset="-120"/>
              </a:rPr>
              <a:t>Bắn tin nhắn Lead tức thì</a:t>
            </a:r>
            <a:endParaRPr lang="en-US" sz="1100" dirty="0"/>
          </a:p>
        </p:txBody>
      </p:sp>
      <p:sp>
        <p:nvSpPr>
          <p:cNvPr id="28" name="Text 26"/>
          <p:cNvSpPr/>
          <p:nvPr/>
        </p:nvSpPr>
        <p:spPr>
          <a:xfrm>
            <a:off x="7178040" y="4709160"/>
            <a:ext cx="3749040" cy="1005840"/>
          </a:xfrm>
          <a:prstGeom prst="rect">
            <a:avLst/>
          </a:prstGeom>
          <a:noFill/>
          <a:ln/>
        </p:spPr>
        <p:txBody>
          <a:bodyPr wrap="square" rtlCol="0" anchor="ctr"/>
          <a:lstStyle/>
          <a:p>
            <a:pPr marL="0" indent="0">
              <a:buNone/>
            </a:pPr>
            <a:r>
              <a:rPr lang="en-US" sz="1050" dirty="0">
                <a:solidFill>
                  <a:srgbClr val="475569"/>
                </a:solidFill>
                <a:latin typeface="Arial" pitchFamily="34" charset="0"/>
                <a:ea typeface="Arial" pitchFamily="34" charset="-122"/>
                <a:cs typeface="Arial" pitchFamily="34" charset="-120"/>
              </a:rPr>
              <a:t>Tích hợp Telegram Bot gửi tin nhắn thông báo ngay lập tức về nhóm nội bộ khi khách hàng gửi đơn dự toán trên website.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4. KẾ HOẠCH &amp; MỤC LỤC</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4.1. Kế hoạch thực hiện 9 tuần</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2471420"/>
        </p:xfrm>
        <a:graphic>
          <a:graphicData uri="http://schemas.openxmlformats.org/drawingml/2006/table">
            <a:tbl>
              <a:tblPr/>
              <a:tblGrid>
                <a:gridCol w="118872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0">
                <a:tc>
                  <a:txBody>
                    <a:bodyPr/>
                    <a:lstStyle/>
                    <a:p>
                      <a:pPr marL="0" indent="0" algn="ctr">
                        <a:buNone/>
                      </a:pPr>
                      <a:r>
                        <a:rPr lang="en-US" sz="1000" b="1" dirty="0">
                          <a:solidFill>
                            <a:srgbClr val="FFFFFF"/>
                          </a:solidFill>
                        </a:rPr>
                        <a:t>Tuần</a:t>
                      </a:r>
                      <a:endParaRPr lang="en-US" sz="100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marL="0" indent="0">
                        <a:buNone/>
                      </a:pPr>
                      <a:r>
                        <a:rPr lang="en-US" sz="1000" b="1" dirty="0">
                          <a:solidFill>
                            <a:srgbClr val="FFFFFF"/>
                          </a:solidFill>
                        </a:rPr>
                        <a:t>Nội dung thực hiện</a:t>
                      </a:r>
                      <a:endParaRPr lang="en-US" sz="100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marL="0" indent="0">
                        <a:buNone/>
                      </a:pPr>
                      <a:r>
                        <a:rPr lang="en-US" sz="1000" b="1" dirty="0">
                          <a:solidFill>
                            <a:srgbClr val="FFFFFF"/>
                          </a:solidFill>
                        </a:rPr>
                        <a:t>Kết quả dự kiến</a:t>
                      </a:r>
                      <a:endParaRPr lang="en-US" sz="100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0">
                <a:tc>
                  <a:txBody>
                    <a:bodyPr/>
                    <a:lstStyle/>
                    <a:p>
                      <a:pPr marL="0" indent="0" algn="ctr">
                        <a:buNone/>
                      </a:pPr>
                      <a:r>
                        <a:rPr lang="en-US" sz="950" b="1" dirty="0">
                          <a:solidFill>
                            <a:srgbClr val="000000"/>
                          </a:solidFill>
                        </a:rPr>
                        <a:t>Tuần 1</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Khảo sát hệ thống, phân tích yêu cầu nâng cấp</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Xác định hiện trạng Website và lập kế hoạch mới</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950" b="1" dirty="0">
                          <a:solidFill>
                            <a:srgbClr val="000000"/>
                          </a:solidFill>
                        </a:rPr>
                        <a:t>Tuần 2</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Duy trì AI tư vấn khách hàng &amp; tiếp tục tối ưu SEO</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AI hoạt động ổn định; nội dung &amp; cấu trúc SEO hoàn thiện</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950" b="1" dirty="0">
                          <a:solidFill>
                            <a:srgbClr val="000000"/>
                          </a:solidFill>
                        </a:rPr>
                        <a:t>Tuần 3</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Hoàn thiện trang Dự toán báo giá thang máy</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Chức năng dự toán ổn định, cải thiện trải nghiệm người dùng</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950" b="1" dirty="0">
                          <a:solidFill>
                            <a:srgbClr val="000000"/>
                          </a:solidFill>
                        </a:rPr>
                        <a:t>Tuần 4</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Kiểm thử tổng thể, sửa lỗi &amp; chuẩn bị nền tảng nâng cấp</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Hệ thống ổn định trên Internet, sẵn sàng tính năng mới</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ctr">
                        <a:buNone/>
                      </a:pPr>
                      <a:r>
                        <a:rPr lang="en-US" sz="950" b="1" dirty="0">
                          <a:solidFill>
                            <a:srgbClr val="000000"/>
                          </a:solidFill>
                        </a:rPr>
                        <a:t>Tuần 5</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950" b="1" dirty="0">
                          <a:solidFill>
                            <a:srgbClr val="1D4ED8"/>
                          </a:solidFill>
                        </a:rPr>
                        <a:t>Xây dựng Visual Cabin Customizer (Bộ phối cảnh trực quan)</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950" dirty="0">
                          <a:solidFill>
                            <a:srgbClr val="000000"/>
                          </a:solidFill>
                        </a:rPr>
                        <a:t>Hoàn thành giao diện phối cảnh cabin và tùy chọn vật liệu</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0">
                <a:tc>
                  <a:txBody>
                    <a:bodyPr/>
                    <a:lstStyle/>
                    <a:p>
                      <a:pPr marL="0" indent="0" algn="ctr">
                        <a:buNone/>
                      </a:pPr>
                      <a:r>
                        <a:rPr lang="en-US" sz="950" b="1" dirty="0">
                          <a:solidFill>
                            <a:srgbClr val="000000"/>
                          </a:solidFill>
                        </a:rPr>
                        <a:t>Tuần 6</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950" b="1" dirty="0">
                          <a:solidFill>
                            <a:srgbClr val="1D4ED8"/>
                          </a:solidFill>
                        </a:rPr>
                        <a:t>Xây dựng Dashboard quản trị và chức năng xuất báo giá PDF</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950" dirty="0">
                          <a:solidFill>
                            <a:srgbClr val="000000"/>
                          </a:solidFill>
                        </a:rPr>
                        <a:t>Hiển thị thống kê quản trị và tạo báo giá PDF thành công</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6"/>
                  </a:ext>
                </a:extLst>
              </a:tr>
              <a:tr h="0">
                <a:tc>
                  <a:txBody>
                    <a:bodyPr/>
                    <a:lstStyle/>
                    <a:p>
                      <a:pPr marL="0" indent="0" algn="ctr">
                        <a:buNone/>
                      </a:pPr>
                      <a:r>
                        <a:rPr lang="en-US" sz="950" b="1" dirty="0">
                          <a:solidFill>
                            <a:srgbClr val="000000"/>
                          </a:solidFill>
                        </a:rPr>
                        <a:t>Tuần 7</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950" b="1" dirty="0">
                          <a:solidFill>
                            <a:srgbClr val="1D4ED8"/>
                          </a:solidFill>
                        </a:rPr>
                        <a:t>Tích hợp Telegram Bot và tự động hóa thông báo Lead</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950" dirty="0">
                          <a:solidFill>
                            <a:srgbClr val="000000"/>
                          </a:solidFill>
                        </a:rPr>
                        <a:t>Hệ thống tự động bắn tin nhắn về Telegram khi có yêu cầu</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7"/>
                  </a:ext>
                </a:extLst>
              </a:tr>
              <a:tr h="0">
                <a:tc>
                  <a:txBody>
                    <a:bodyPr/>
                    <a:lstStyle/>
                    <a:p>
                      <a:pPr marL="0" indent="0" algn="ctr">
                        <a:buNone/>
                      </a:pPr>
                      <a:r>
                        <a:rPr lang="en-US" sz="950" b="1" dirty="0">
                          <a:solidFill>
                            <a:srgbClr val="000000"/>
                          </a:solidFill>
                        </a:rPr>
                        <a:t>Tuần 8</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950" b="1" dirty="0">
                          <a:solidFill>
                            <a:srgbClr val="1D4ED8"/>
                          </a:solidFill>
                        </a:rPr>
                        <a:t>Nghiên cứu &amp; thử nghiệm Gemini Multimodal Vision</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950" dirty="0">
                          <a:solidFill>
                            <a:srgbClr val="000000"/>
                          </a:solidFill>
                        </a:rPr>
                        <a:t>Hoàn thành thử nghiệm AI Vision nhận diện ảnh bản vẽ</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8"/>
                  </a:ext>
                </a:extLst>
              </a:tr>
              <a:tr h="0">
                <a:tc>
                  <a:txBody>
                    <a:bodyPr/>
                    <a:lstStyle/>
                    <a:p>
                      <a:pPr marL="0" indent="0" algn="ctr">
                        <a:buNone/>
                      </a:pPr>
                      <a:r>
                        <a:rPr lang="en-US" sz="950" b="1" dirty="0">
                          <a:solidFill>
                            <a:srgbClr val="000000"/>
                          </a:solidFill>
                        </a:rPr>
                        <a:t>Tuần 9</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Kiểm thử tổng thể, tối ưu, hoàn thiện báo cáo &amp; thuyết trình</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marL="0" indent="0">
                        <a:buNone/>
                      </a:pPr>
                      <a:r>
                        <a:rPr lang="en-US" sz="950" dirty="0">
                          <a:solidFill>
                            <a:srgbClr val="000000"/>
                          </a:solidFill>
                        </a:rPr>
                        <a:t>Hoàn thiện hệ thống, báo cáo tốt nghiệp, slide và demo</a:t>
                      </a:r>
                      <a:endParaRPr lang="en-US" sz="950" dirty="0"/>
                    </a:p>
                  </a:txBody>
                  <a:tcPr marL="76200" marR="76200" marT="50800" marB="5080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marL="0" indent="0">
              <a:buNone/>
            </a:pPr>
            <a:r>
              <a:rPr lang="en-US" sz="1000" b="1" dirty="0">
                <a:solidFill>
                  <a:srgbClr val="D97706"/>
                </a:solidFill>
                <a:latin typeface="Arial" pitchFamily="34" charset="0"/>
                <a:ea typeface="Arial" pitchFamily="34" charset="-122"/>
                <a:cs typeface="Arial" pitchFamily="34" charset="-120"/>
              </a:rPr>
              <a:t>PHẦN 4. KẾ HOẠCH &amp; MỤC LỤC</a:t>
            </a:r>
            <a:endParaRPr lang="en-US" sz="1000" dirty="0"/>
          </a:p>
        </p:txBody>
      </p:sp>
      <p:sp>
        <p:nvSpPr>
          <p:cNvPr id="3" name="Text 1"/>
          <p:cNvSpPr/>
          <p:nvPr/>
        </p:nvSpPr>
        <p:spPr>
          <a:xfrm>
            <a:off x="731520" y="640080"/>
            <a:ext cx="10515600" cy="54864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4.2. Khung đề cương báo cáo cuối kỳ dự kiến</a:t>
            </a:r>
            <a:endParaRPr lang="en-US" sz="2200" dirty="0"/>
          </a:p>
        </p:txBody>
      </p:sp>
      <p:sp>
        <p:nvSpPr>
          <p:cNvPr id="4" name="Shape 2"/>
          <p:cNvSpPr/>
          <p:nvPr/>
        </p:nvSpPr>
        <p:spPr>
          <a:xfrm>
            <a:off x="731520" y="1234440"/>
            <a:ext cx="10698480" cy="18288"/>
          </a:xfrm>
          <a:prstGeom prst="rect">
            <a:avLst/>
          </a:prstGeom>
          <a:solidFill>
            <a:srgbClr val="CBD5E1"/>
          </a:solidFill>
          <a:ln w="12700">
            <a:solidFill>
              <a:srgbClr val="CBD5E1"/>
            </a:solidFill>
            <a:prstDash val="solid"/>
          </a:ln>
        </p:spPr>
      </p:sp>
      <p:sp>
        <p:nvSpPr>
          <p:cNvPr id="5" name="Shape 3"/>
          <p:cNvSpPr/>
          <p:nvPr/>
        </p:nvSpPr>
        <p:spPr>
          <a:xfrm>
            <a:off x="731520" y="1463040"/>
            <a:ext cx="2560320" cy="4663440"/>
          </a:xfrm>
          <a:prstGeom prst="roundRect">
            <a:avLst>
              <a:gd name="adj" fmla="val 3571"/>
            </a:avLst>
          </a:prstGeom>
          <a:solidFill>
            <a:srgbClr val="FFFFFF"/>
          </a:solidFill>
          <a:ln w="12700">
            <a:solidFill>
              <a:srgbClr val="E2E8F0"/>
            </a:solidFill>
            <a:prstDash val="solid"/>
          </a:ln>
        </p:spPr>
      </p:sp>
      <p:sp>
        <p:nvSpPr>
          <p:cNvPr id="6" name="Shape 4"/>
          <p:cNvSpPr/>
          <p:nvPr/>
        </p:nvSpPr>
        <p:spPr>
          <a:xfrm>
            <a:off x="914400" y="1645920"/>
            <a:ext cx="2194560" cy="457200"/>
          </a:xfrm>
          <a:prstGeom prst="roundRect">
            <a:avLst>
              <a:gd name="adj" fmla="val 16000"/>
            </a:avLst>
          </a:prstGeom>
          <a:solidFill>
            <a:srgbClr val="0F172A"/>
          </a:solidFill>
          <a:ln/>
        </p:spPr>
      </p:sp>
      <p:sp>
        <p:nvSpPr>
          <p:cNvPr id="7" name="Text 5"/>
          <p:cNvSpPr/>
          <p:nvPr/>
        </p:nvSpPr>
        <p:spPr>
          <a:xfrm>
            <a:off x="914400" y="1645920"/>
            <a:ext cx="2194560" cy="457200"/>
          </a:xfrm>
          <a:prstGeom prst="rect">
            <a:avLst/>
          </a:prstGeom>
          <a:noFill/>
          <a:ln/>
        </p:spPr>
        <p:txBody>
          <a:bodyPr wrap="square" rtlCol="0" anchor="ctr"/>
          <a:lstStyle/>
          <a:p>
            <a:pPr marL="0" indent="0" algn="ctr">
              <a:buNone/>
            </a:pPr>
            <a:r>
              <a:rPr lang="en-US" sz="1200" b="1" dirty="0">
                <a:solidFill>
                  <a:srgbClr val="D97706"/>
                </a:solidFill>
                <a:latin typeface="Arial" pitchFamily="34" charset="0"/>
                <a:ea typeface="Arial" pitchFamily="34" charset="-122"/>
                <a:cs typeface="Arial" pitchFamily="34" charset="-120"/>
              </a:rPr>
              <a:t>CHƯƠNG 1</a:t>
            </a:r>
            <a:endParaRPr lang="en-US" sz="1200" dirty="0"/>
          </a:p>
        </p:txBody>
      </p:sp>
      <p:sp>
        <p:nvSpPr>
          <p:cNvPr id="8" name="Text 6"/>
          <p:cNvSpPr/>
          <p:nvPr/>
        </p:nvSpPr>
        <p:spPr>
          <a:xfrm>
            <a:off x="914400" y="2194560"/>
            <a:ext cx="2194560" cy="731520"/>
          </a:xfrm>
          <a:prstGeom prst="rect">
            <a:avLst/>
          </a:prstGeom>
          <a:noFill/>
          <a:ln/>
        </p:spPr>
        <p:txBody>
          <a:bodyPr wrap="square" rtlCol="0" anchor="ctr"/>
          <a:lstStyle/>
          <a:p>
            <a:pPr marL="0" indent="0" algn="ctr">
              <a:buNone/>
            </a:pPr>
            <a:r>
              <a:rPr lang="en-US" sz="1100" b="1" dirty="0">
                <a:solidFill>
                  <a:srgbClr val="1E293B"/>
                </a:solidFill>
                <a:latin typeface="Arial" pitchFamily="34" charset="0"/>
                <a:ea typeface="Arial" pitchFamily="34" charset="-122"/>
                <a:cs typeface="Arial" pitchFamily="34" charset="-120"/>
              </a:rPr>
              <a:t>TỔNG QUAN ĐƠN VỊ THỰC TẬP VÀ ĐỀ TÀI</a:t>
            </a:r>
            <a:endParaRPr lang="en-US" sz="1100" dirty="0"/>
          </a:p>
        </p:txBody>
      </p:sp>
      <p:sp>
        <p:nvSpPr>
          <p:cNvPr id="9" name="Shape 7"/>
          <p:cNvSpPr/>
          <p:nvPr/>
        </p:nvSpPr>
        <p:spPr>
          <a:xfrm>
            <a:off x="1005840" y="3017520"/>
            <a:ext cx="2011680" cy="18288"/>
          </a:xfrm>
          <a:prstGeom prst="rect">
            <a:avLst/>
          </a:prstGeom>
          <a:solidFill>
            <a:srgbClr val="E2E8F0"/>
          </a:solidFill>
          <a:ln w="12700">
            <a:solidFill>
              <a:srgbClr val="E2E8F0"/>
            </a:solidFill>
            <a:prstDash val="solid"/>
          </a:ln>
        </p:spPr>
      </p:sp>
      <p:sp>
        <p:nvSpPr>
          <p:cNvPr id="10" name="Text 8"/>
          <p:cNvSpPr/>
          <p:nvPr/>
        </p:nvSpPr>
        <p:spPr>
          <a:xfrm>
            <a:off x="914400" y="3108960"/>
            <a:ext cx="2194560" cy="2743200"/>
          </a:xfrm>
          <a:prstGeom prst="rect">
            <a:avLst/>
          </a:prstGeom>
          <a:noFill/>
          <a:ln/>
        </p:spPr>
        <p:txBody>
          <a:bodyPr wrap="square" rtlCol="0" anchor="ctr"/>
          <a:lstStyle/>
          <a:p>
            <a:pPr marL="0" indent="0">
              <a:buNone/>
            </a:pPr>
            <a:r>
              <a:rPr lang="en-US" sz="1000" dirty="0">
                <a:solidFill>
                  <a:srgbClr val="475569"/>
                </a:solidFill>
                <a:latin typeface="Arial" pitchFamily="34" charset="0"/>
                <a:ea typeface="Arial" pitchFamily="34" charset="-122"/>
                <a:cs typeface="Arial" pitchFamily="34" charset="-120"/>
              </a:rPr>
              <a:t>• Giới thiệu Thang Máy Hà Hồng</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Lĩnh vực hoạt động, cơ cấu tổ chức</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Hiện trạng hệ thống website</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Lý do chọn đề tài, mục tiêu &amp; phạm vi</a:t>
            </a:r>
            <a:endParaRPr lang="en-US" sz="1000" dirty="0"/>
          </a:p>
        </p:txBody>
      </p:sp>
      <p:sp>
        <p:nvSpPr>
          <p:cNvPr id="11" name="Shape 9"/>
          <p:cNvSpPr/>
          <p:nvPr/>
        </p:nvSpPr>
        <p:spPr>
          <a:xfrm>
            <a:off x="3429000" y="1463040"/>
            <a:ext cx="2560320" cy="4663440"/>
          </a:xfrm>
          <a:prstGeom prst="roundRect">
            <a:avLst>
              <a:gd name="adj" fmla="val 3571"/>
            </a:avLst>
          </a:prstGeom>
          <a:solidFill>
            <a:srgbClr val="FFFFFF"/>
          </a:solidFill>
          <a:ln w="12700">
            <a:solidFill>
              <a:srgbClr val="E2E8F0"/>
            </a:solidFill>
            <a:prstDash val="solid"/>
          </a:ln>
        </p:spPr>
      </p:sp>
      <p:sp>
        <p:nvSpPr>
          <p:cNvPr id="12" name="Shape 10"/>
          <p:cNvSpPr/>
          <p:nvPr/>
        </p:nvSpPr>
        <p:spPr>
          <a:xfrm>
            <a:off x="3611880" y="1645920"/>
            <a:ext cx="2194560" cy="457200"/>
          </a:xfrm>
          <a:prstGeom prst="roundRect">
            <a:avLst>
              <a:gd name="adj" fmla="val 16000"/>
            </a:avLst>
          </a:prstGeom>
          <a:solidFill>
            <a:srgbClr val="0F172A"/>
          </a:solidFill>
          <a:ln/>
        </p:spPr>
      </p:sp>
      <p:sp>
        <p:nvSpPr>
          <p:cNvPr id="13" name="Text 11"/>
          <p:cNvSpPr/>
          <p:nvPr/>
        </p:nvSpPr>
        <p:spPr>
          <a:xfrm>
            <a:off x="3611880" y="1645920"/>
            <a:ext cx="2194560" cy="457200"/>
          </a:xfrm>
          <a:prstGeom prst="rect">
            <a:avLst/>
          </a:prstGeom>
          <a:noFill/>
          <a:ln/>
        </p:spPr>
        <p:txBody>
          <a:bodyPr wrap="square" rtlCol="0" anchor="ctr"/>
          <a:lstStyle/>
          <a:p>
            <a:pPr marL="0" indent="0" algn="ctr">
              <a:buNone/>
            </a:pPr>
            <a:r>
              <a:rPr lang="en-US" sz="1200" b="1" dirty="0">
                <a:solidFill>
                  <a:srgbClr val="D97706"/>
                </a:solidFill>
                <a:latin typeface="Arial" pitchFamily="34" charset="0"/>
                <a:ea typeface="Arial" pitchFamily="34" charset="-122"/>
                <a:cs typeface="Arial" pitchFamily="34" charset="-120"/>
              </a:rPr>
              <a:t>CHƯƠNG 2</a:t>
            </a:r>
            <a:endParaRPr lang="en-US" sz="1200" dirty="0"/>
          </a:p>
        </p:txBody>
      </p:sp>
      <p:sp>
        <p:nvSpPr>
          <p:cNvPr id="14" name="Text 12"/>
          <p:cNvSpPr/>
          <p:nvPr/>
        </p:nvSpPr>
        <p:spPr>
          <a:xfrm>
            <a:off x="3611880" y="2194560"/>
            <a:ext cx="2194560" cy="731520"/>
          </a:xfrm>
          <a:prstGeom prst="rect">
            <a:avLst/>
          </a:prstGeom>
          <a:noFill/>
          <a:ln/>
        </p:spPr>
        <p:txBody>
          <a:bodyPr wrap="square" rtlCol="0" anchor="ctr"/>
          <a:lstStyle/>
          <a:p>
            <a:pPr marL="0" indent="0" algn="ctr">
              <a:buNone/>
            </a:pPr>
            <a:r>
              <a:rPr lang="en-US" sz="1100" b="1" dirty="0">
                <a:solidFill>
                  <a:srgbClr val="1E293B"/>
                </a:solidFill>
                <a:latin typeface="Arial" pitchFamily="34" charset="0"/>
                <a:ea typeface="Arial" pitchFamily="34" charset="-122"/>
                <a:cs typeface="Arial" pitchFamily="34" charset="-120"/>
              </a:rPr>
              <a:t>CƠ SỞ LÝ THUYẾT VÀ CÔNG NGHỆ</a:t>
            </a:r>
            <a:endParaRPr lang="en-US" sz="1100" dirty="0"/>
          </a:p>
        </p:txBody>
      </p:sp>
      <p:sp>
        <p:nvSpPr>
          <p:cNvPr id="15" name="Shape 13"/>
          <p:cNvSpPr/>
          <p:nvPr/>
        </p:nvSpPr>
        <p:spPr>
          <a:xfrm>
            <a:off x="3703320" y="3017520"/>
            <a:ext cx="2011680" cy="18288"/>
          </a:xfrm>
          <a:prstGeom prst="rect">
            <a:avLst/>
          </a:prstGeom>
          <a:solidFill>
            <a:srgbClr val="E2E8F0"/>
          </a:solidFill>
          <a:ln w="12700">
            <a:solidFill>
              <a:srgbClr val="E2E8F0"/>
            </a:solidFill>
            <a:prstDash val="solid"/>
          </a:ln>
        </p:spPr>
      </p:sp>
      <p:sp>
        <p:nvSpPr>
          <p:cNvPr id="16" name="Text 14"/>
          <p:cNvSpPr/>
          <p:nvPr/>
        </p:nvSpPr>
        <p:spPr>
          <a:xfrm>
            <a:off x="3611880" y="3108960"/>
            <a:ext cx="2194560" cy="2743200"/>
          </a:xfrm>
          <a:prstGeom prst="rect">
            <a:avLst/>
          </a:prstGeom>
          <a:noFill/>
          <a:ln/>
        </p:spPr>
        <p:txBody>
          <a:bodyPr wrap="square" rtlCol="0" anchor="ctr"/>
          <a:lstStyle/>
          <a:p>
            <a:pPr marL="0" indent="0">
              <a:buNone/>
            </a:pPr>
            <a:r>
              <a:rPr lang="en-US" sz="1000" dirty="0">
                <a:solidFill>
                  <a:srgbClr val="475569"/>
                </a:solidFill>
                <a:latin typeface="Arial" pitchFamily="34" charset="0"/>
                <a:ea typeface="Arial" pitchFamily="34" charset="-122"/>
                <a:cs typeface="Arial" pitchFamily="34" charset="-120"/>
              </a:rPr>
              <a:t>• Frontend: ReactJS, CSS/UI</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Backend: ASP.NET Core 8 Web API</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Database: PostgreSQL, RESTful API</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AI: Gemini API, Vision, Telegram Bot, PDF</a:t>
            </a:r>
            <a:endParaRPr lang="en-US" sz="1000" dirty="0"/>
          </a:p>
        </p:txBody>
      </p:sp>
      <p:sp>
        <p:nvSpPr>
          <p:cNvPr id="17" name="Shape 15"/>
          <p:cNvSpPr/>
          <p:nvPr/>
        </p:nvSpPr>
        <p:spPr>
          <a:xfrm>
            <a:off x="6126480" y="1463040"/>
            <a:ext cx="2560320" cy="4663440"/>
          </a:xfrm>
          <a:prstGeom prst="roundRect">
            <a:avLst>
              <a:gd name="adj" fmla="val 3571"/>
            </a:avLst>
          </a:prstGeom>
          <a:solidFill>
            <a:srgbClr val="FFFFFF"/>
          </a:solidFill>
          <a:ln w="12700">
            <a:solidFill>
              <a:srgbClr val="E2E8F0"/>
            </a:solidFill>
            <a:prstDash val="solid"/>
          </a:ln>
        </p:spPr>
      </p:sp>
      <p:sp>
        <p:nvSpPr>
          <p:cNvPr id="18" name="Shape 16"/>
          <p:cNvSpPr/>
          <p:nvPr/>
        </p:nvSpPr>
        <p:spPr>
          <a:xfrm>
            <a:off x="6309360" y="1645920"/>
            <a:ext cx="2194560" cy="457200"/>
          </a:xfrm>
          <a:prstGeom prst="roundRect">
            <a:avLst>
              <a:gd name="adj" fmla="val 16000"/>
            </a:avLst>
          </a:prstGeom>
          <a:solidFill>
            <a:srgbClr val="0F172A"/>
          </a:solidFill>
          <a:ln/>
        </p:spPr>
      </p:sp>
      <p:sp>
        <p:nvSpPr>
          <p:cNvPr id="19" name="Text 17"/>
          <p:cNvSpPr/>
          <p:nvPr/>
        </p:nvSpPr>
        <p:spPr>
          <a:xfrm>
            <a:off x="6309360" y="1645920"/>
            <a:ext cx="2194560" cy="457200"/>
          </a:xfrm>
          <a:prstGeom prst="rect">
            <a:avLst/>
          </a:prstGeom>
          <a:noFill/>
          <a:ln/>
        </p:spPr>
        <p:txBody>
          <a:bodyPr wrap="square" rtlCol="0" anchor="ctr"/>
          <a:lstStyle/>
          <a:p>
            <a:pPr marL="0" indent="0" algn="ctr">
              <a:buNone/>
            </a:pPr>
            <a:r>
              <a:rPr lang="en-US" sz="1200" b="1" dirty="0">
                <a:solidFill>
                  <a:srgbClr val="D97706"/>
                </a:solidFill>
                <a:latin typeface="Arial" pitchFamily="34" charset="0"/>
                <a:ea typeface="Arial" pitchFamily="34" charset="-122"/>
                <a:cs typeface="Arial" pitchFamily="34" charset="-120"/>
              </a:rPr>
              <a:t>CHƯƠNG 3</a:t>
            </a:r>
            <a:endParaRPr lang="en-US" sz="1200" dirty="0"/>
          </a:p>
        </p:txBody>
      </p:sp>
      <p:sp>
        <p:nvSpPr>
          <p:cNvPr id="20" name="Text 18"/>
          <p:cNvSpPr/>
          <p:nvPr/>
        </p:nvSpPr>
        <p:spPr>
          <a:xfrm>
            <a:off x="6309360" y="2194560"/>
            <a:ext cx="2194560" cy="731520"/>
          </a:xfrm>
          <a:prstGeom prst="rect">
            <a:avLst/>
          </a:prstGeom>
          <a:noFill/>
          <a:ln/>
        </p:spPr>
        <p:txBody>
          <a:bodyPr wrap="square" rtlCol="0" anchor="ctr"/>
          <a:lstStyle/>
          <a:p>
            <a:pPr marL="0" indent="0" algn="ctr">
              <a:buNone/>
            </a:pPr>
            <a:r>
              <a:rPr lang="en-US" sz="1100" b="1" dirty="0">
                <a:solidFill>
                  <a:srgbClr val="1E293B"/>
                </a:solidFill>
                <a:latin typeface="Arial" pitchFamily="34" charset="0"/>
                <a:ea typeface="Arial" pitchFamily="34" charset="-122"/>
                <a:cs typeface="Arial" pitchFamily="34" charset="-120"/>
              </a:rPr>
              <a:t>PHÂN TÍCH, THIẾT KẾ &amp; XÂY DỰNG</a:t>
            </a:r>
            <a:endParaRPr lang="en-US" sz="1100" dirty="0"/>
          </a:p>
        </p:txBody>
      </p:sp>
      <p:sp>
        <p:nvSpPr>
          <p:cNvPr id="21" name="Shape 19"/>
          <p:cNvSpPr/>
          <p:nvPr/>
        </p:nvSpPr>
        <p:spPr>
          <a:xfrm>
            <a:off x="6400800" y="3017520"/>
            <a:ext cx="2011680" cy="18288"/>
          </a:xfrm>
          <a:prstGeom prst="rect">
            <a:avLst/>
          </a:prstGeom>
          <a:solidFill>
            <a:srgbClr val="E2E8F0"/>
          </a:solidFill>
          <a:ln w="12700">
            <a:solidFill>
              <a:srgbClr val="E2E8F0"/>
            </a:solidFill>
            <a:prstDash val="solid"/>
          </a:ln>
        </p:spPr>
      </p:sp>
      <p:sp>
        <p:nvSpPr>
          <p:cNvPr id="22" name="Text 20"/>
          <p:cNvSpPr/>
          <p:nvPr/>
        </p:nvSpPr>
        <p:spPr>
          <a:xfrm>
            <a:off x="6309360" y="3108960"/>
            <a:ext cx="2194560" cy="2743200"/>
          </a:xfrm>
          <a:prstGeom prst="rect">
            <a:avLst/>
          </a:prstGeom>
          <a:noFill/>
          <a:ln/>
        </p:spPr>
        <p:txBody>
          <a:bodyPr wrap="square" rtlCol="0" anchor="ctr"/>
          <a:lstStyle/>
          <a:p>
            <a:pPr marL="0" indent="0">
              <a:buNone/>
            </a:pPr>
            <a:r>
              <a:rPr lang="en-US" sz="1000" dirty="0">
                <a:solidFill>
                  <a:srgbClr val="475569"/>
                </a:solidFill>
                <a:latin typeface="Arial" pitchFamily="34" charset="0"/>
                <a:ea typeface="Arial" pitchFamily="34" charset="-122"/>
                <a:cs typeface="Arial" pitchFamily="34" charset="-120"/>
              </a:rPr>
              <a:t>• Phân tích yêu cầu chức năng &amp; CSDL</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Module Dự toán báo giá &amp; Visual Cabin</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Module AI tư vấn &amp; Gemini Vision</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Dashboard thống kê &amp; Telegram Bot</a:t>
            </a:r>
            <a:endParaRPr lang="en-US" sz="1000" dirty="0"/>
          </a:p>
        </p:txBody>
      </p:sp>
      <p:sp>
        <p:nvSpPr>
          <p:cNvPr id="23" name="Shape 21"/>
          <p:cNvSpPr/>
          <p:nvPr/>
        </p:nvSpPr>
        <p:spPr>
          <a:xfrm>
            <a:off x="8823960" y="1463040"/>
            <a:ext cx="2560320" cy="4663440"/>
          </a:xfrm>
          <a:prstGeom prst="roundRect">
            <a:avLst>
              <a:gd name="adj" fmla="val 3571"/>
            </a:avLst>
          </a:prstGeom>
          <a:solidFill>
            <a:srgbClr val="FFFFFF"/>
          </a:solidFill>
          <a:ln w="12700">
            <a:solidFill>
              <a:srgbClr val="E2E8F0"/>
            </a:solidFill>
            <a:prstDash val="solid"/>
          </a:ln>
        </p:spPr>
      </p:sp>
      <p:sp>
        <p:nvSpPr>
          <p:cNvPr id="24" name="Shape 22"/>
          <p:cNvSpPr/>
          <p:nvPr/>
        </p:nvSpPr>
        <p:spPr>
          <a:xfrm>
            <a:off x="9006840" y="1645920"/>
            <a:ext cx="2194560" cy="457200"/>
          </a:xfrm>
          <a:prstGeom prst="roundRect">
            <a:avLst>
              <a:gd name="adj" fmla="val 16000"/>
            </a:avLst>
          </a:prstGeom>
          <a:solidFill>
            <a:srgbClr val="0F172A"/>
          </a:solidFill>
          <a:ln/>
        </p:spPr>
      </p:sp>
      <p:sp>
        <p:nvSpPr>
          <p:cNvPr id="25" name="Text 23"/>
          <p:cNvSpPr/>
          <p:nvPr/>
        </p:nvSpPr>
        <p:spPr>
          <a:xfrm>
            <a:off x="9006840" y="1645920"/>
            <a:ext cx="2194560" cy="457200"/>
          </a:xfrm>
          <a:prstGeom prst="rect">
            <a:avLst/>
          </a:prstGeom>
          <a:noFill/>
          <a:ln/>
        </p:spPr>
        <p:txBody>
          <a:bodyPr wrap="square" rtlCol="0" anchor="ctr"/>
          <a:lstStyle/>
          <a:p>
            <a:pPr marL="0" indent="0" algn="ctr">
              <a:buNone/>
            </a:pPr>
            <a:r>
              <a:rPr lang="en-US" sz="1200" b="1" dirty="0">
                <a:solidFill>
                  <a:srgbClr val="D97706"/>
                </a:solidFill>
                <a:latin typeface="Arial" pitchFamily="34" charset="0"/>
                <a:ea typeface="Arial" pitchFamily="34" charset="-122"/>
                <a:cs typeface="Arial" pitchFamily="34" charset="-120"/>
              </a:rPr>
              <a:t>CHƯƠNG 4</a:t>
            </a:r>
            <a:endParaRPr lang="en-US" sz="1200" dirty="0"/>
          </a:p>
        </p:txBody>
      </p:sp>
      <p:sp>
        <p:nvSpPr>
          <p:cNvPr id="26" name="Text 24"/>
          <p:cNvSpPr/>
          <p:nvPr/>
        </p:nvSpPr>
        <p:spPr>
          <a:xfrm>
            <a:off x="9006840" y="2194560"/>
            <a:ext cx="2194560" cy="731520"/>
          </a:xfrm>
          <a:prstGeom prst="rect">
            <a:avLst/>
          </a:prstGeom>
          <a:noFill/>
          <a:ln/>
        </p:spPr>
        <p:txBody>
          <a:bodyPr wrap="square" rtlCol="0" anchor="ctr"/>
          <a:lstStyle/>
          <a:p>
            <a:pPr marL="0" indent="0" algn="ctr">
              <a:buNone/>
            </a:pPr>
            <a:r>
              <a:rPr lang="en-US" sz="1100" b="1" dirty="0">
                <a:solidFill>
                  <a:srgbClr val="1E293B"/>
                </a:solidFill>
                <a:latin typeface="Arial" pitchFamily="34" charset="0"/>
                <a:ea typeface="Arial" pitchFamily="34" charset="-122"/>
                <a:cs typeface="Arial" pitchFamily="34" charset="-120"/>
              </a:rPr>
              <a:t>KIỂM THỬ, KẾT QUẢ VÀ ĐÁNH GIÁ</a:t>
            </a:r>
            <a:endParaRPr lang="en-US" sz="1100" dirty="0"/>
          </a:p>
        </p:txBody>
      </p:sp>
      <p:sp>
        <p:nvSpPr>
          <p:cNvPr id="27" name="Shape 25"/>
          <p:cNvSpPr/>
          <p:nvPr/>
        </p:nvSpPr>
        <p:spPr>
          <a:xfrm>
            <a:off x="9098280" y="3017520"/>
            <a:ext cx="2011680" cy="18288"/>
          </a:xfrm>
          <a:prstGeom prst="rect">
            <a:avLst/>
          </a:prstGeom>
          <a:solidFill>
            <a:srgbClr val="E2E8F0"/>
          </a:solidFill>
          <a:ln w="12700">
            <a:solidFill>
              <a:srgbClr val="E2E8F0"/>
            </a:solidFill>
            <a:prstDash val="solid"/>
          </a:ln>
        </p:spPr>
      </p:sp>
      <p:sp>
        <p:nvSpPr>
          <p:cNvPr id="28" name="Text 26"/>
          <p:cNvSpPr/>
          <p:nvPr/>
        </p:nvSpPr>
        <p:spPr>
          <a:xfrm>
            <a:off x="9006840" y="3108960"/>
            <a:ext cx="2194560" cy="2743200"/>
          </a:xfrm>
          <a:prstGeom prst="rect">
            <a:avLst/>
          </a:prstGeom>
          <a:noFill/>
          <a:ln/>
        </p:spPr>
        <p:txBody>
          <a:bodyPr wrap="square" rtlCol="0" anchor="ctr"/>
          <a:lstStyle/>
          <a:p>
            <a:pPr marL="0" indent="0">
              <a:buNone/>
            </a:pPr>
            <a:r>
              <a:rPr lang="en-US" sz="1000" dirty="0">
                <a:solidFill>
                  <a:srgbClr val="475569"/>
                </a:solidFill>
                <a:latin typeface="Arial" pitchFamily="34" charset="0"/>
                <a:ea typeface="Arial" pitchFamily="34" charset="-122"/>
                <a:cs typeface="Arial" pitchFamily="34" charset="-120"/>
              </a:rPr>
              <a:t>• Kế hoạch và các kịch bản kiểm thử</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Kết quả vận hành thực tế tại domain</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Đánh giá từ phía doanh nghiệp</a:t>
            </a:r>
            <a:endParaRPr lang="en-US" sz="1000" dirty="0"/>
          </a:p>
          <a:p>
            <a:pPr marL="0" indent="0">
              <a:buNone/>
            </a:pPr>
            <a:r>
              <a:rPr lang="en-US" sz="1000" dirty="0">
                <a:solidFill>
                  <a:srgbClr val="475569"/>
                </a:solidFill>
                <a:latin typeface="Arial" pitchFamily="34" charset="0"/>
                <a:ea typeface="Arial" pitchFamily="34" charset="-122"/>
                <a:cs typeface="Arial" pitchFamily="34" charset="-120"/>
              </a:rPr>
              <a:t>• Hạn chế còn tồn đọng &amp; Hướng phát triển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1371600" y="1371600"/>
            <a:ext cx="9418320" cy="4114800"/>
          </a:xfrm>
          <a:prstGeom prst="roundRect">
            <a:avLst>
              <a:gd name="adj" fmla="val 3333"/>
            </a:avLst>
          </a:prstGeom>
          <a:solidFill>
            <a:srgbClr val="1E293B"/>
          </a:solidFill>
          <a:ln w="19050">
            <a:solidFill>
              <a:srgbClr val="D97706"/>
            </a:solidFill>
            <a:prstDash val="solid"/>
          </a:ln>
        </p:spPr>
      </p:sp>
      <p:sp>
        <p:nvSpPr>
          <p:cNvPr id="3" name="Text 1"/>
          <p:cNvSpPr/>
          <p:nvPr/>
        </p:nvSpPr>
        <p:spPr>
          <a:xfrm>
            <a:off x="1371600" y="1645920"/>
            <a:ext cx="9418320" cy="457200"/>
          </a:xfrm>
          <a:prstGeom prst="rect">
            <a:avLst/>
          </a:prstGeom>
          <a:noFill/>
          <a:ln/>
        </p:spPr>
        <p:txBody>
          <a:bodyPr wrap="square" rtlCol="0" anchor="ctr"/>
          <a:lstStyle/>
          <a:p>
            <a:pPr marL="0" indent="0" algn="ctr">
              <a:buNone/>
            </a:pPr>
            <a:r>
              <a:rPr lang="en-US" sz="2400" b="1" dirty="0">
                <a:solidFill>
                  <a:srgbClr val="D97706"/>
                </a:solidFill>
                <a:latin typeface="Arial" pitchFamily="34" charset="0"/>
                <a:ea typeface="Arial" pitchFamily="34" charset="-122"/>
                <a:cs typeface="Arial" pitchFamily="34" charset="-120"/>
              </a:rPr>
              <a:t>KẾT LUẬN SEMINAR 1</a:t>
            </a:r>
            <a:endParaRPr lang="en-US" sz="2400" dirty="0"/>
          </a:p>
        </p:txBody>
      </p:sp>
      <p:sp>
        <p:nvSpPr>
          <p:cNvPr id="4" name="Text 2"/>
          <p:cNvSpPr/>
          <p:nvPr/>
        </p:nvSpPr>
        <p:spPr>
          <a:xfrm>
            <a:off x="1828800" y="2286000"/>
            <a:ext cx="8503920" cy="137160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Đề tài kết hợp toàn diện giữa lý thuyết lập trình và bài toán chuyển đổi số thực tế tại doanh nghiệp thang máy.</a:t>
            </a:r>
            <a:endParaRPr lang="en-US" sz="1400" dirty="0"/>
          </a:p>
          <a:p>
            <a:pPr marL="0" indent="0" algn="ctr">
              <a:buNone/>
            </a:pPr>
            <a:r>
              <a:rPr lang="en-US" sz="1400" dirty="0">
                <a:solidFill>
                  <a:srgbClr val="FFFFFF"/>
                </a:solidFill>
                <a:latin typeface="Arial" pitchFamily="34" charset="0"/>
                <a:ea typeface="Arial" pitchFamily="34" charset="-122"/>
                <a:cs typeface="Arial" pitchFamily="34" charset="-120"/>
              </a:rPr>
              <a:t>Hệ thống đã vận hành ổn định trên Internet và định hướng mở rộng với các công nghệ hiện đại:</a:t>
            </a:r>
            <a:endParaRPr lang="en-US" sz="1400" dirty="0"/>
          </a:p>
          <a:p>
            <a:pPr marL="0" indent="0" algn="ctr">
              <a:buNone/>
            </a:pPr>
            <a:r>
              <a:rPr lang="en-US" sz="1400" dirty="0">
                <a:solidFill>
                  <a:srgbClr val="FFFFFF"/>
                </a:solidFill>
                <a:latin typeface="Arial" pitchFamily="34" charset="0"/>
                <a:ea typeface="Arial" pitchFamily="34" charset="-122"/>
                <a:cs typeface="Arial" pitchFamily="34" charset="-120"/>
              </a:rPr>
              <a:t>Trực quan hóa Cabin • Dashboard Thống kê • AI Multimodal Vision • Tự động hóa Telegram Lead.</a:t>
            </a:r>
            <a:endParaRPr lang="en-US" sz="1400" dirty="0"/>
          </a:p>
        </p:txBody>
      </p:sp>
      <p:sp>
        <p:nvSpPr>
          <p:cNvPr id="5" name="Shape 3"/>
          <p:cNvSpPr/>
          <p:nvPr/>
        </p:nvSpPr>
        <p:spPr>
          <a:xfrm>
            <a:off x="4114800" y="3840480"/>
            <a:ext cx="3931920" cy="18288"/>
          </a:xfrm>
          <a:prstGeom prst="rect">
            <a:avLst/>
          </a:prstGeom>
          <a:solidFill>
            <a:srgbClr val="475569"/>
          </a:solidFill>
          <a:ln w="12700">
            <a:solidFill>
              <a:srgbClr val="475569"/>
            </a:solidFill>
            <a:prstDash val="solid"/>
          </a:ln>
        </p:spPr>
      </p:sp>
      <p:sp>
        <p:nvSpPr>
          <p:cNvPr id="6" name="Text 4"/>
          <p:cNvSpPr/>
          <p:nvPr/>
        </p:nvSpPr>
        <p:spPr>
          <a:xfrm>
            <a:off x="1371600" y="4114800"/>
            <a:ext cx="9418320" cy="1097280"/>
          </a:xfrm>
          <a:prstGeom prst="rect">
            <a:avLst/>
          </a:prstGeom>
          <a:noFill/>
          <a:ln/>
        </p:spPr>
        <p:txBody>
          <a:bodyPr wrap="square" rtlCol="0" anchor="ctr"/>
          <a:lstStyle/>
          <a:p>
            <a:pPr marL="0" indent="0" algn="ctr">
              <a:buNone/>
            </a:pPr>
            <a:r>
              <a:rPr lang="en-US" sz="1600" b="1" dirty="0">
                <a:solidFill>
                  <a:srgbClr val="38BDF8"/>
                </a:solidFill>
                <a:latin typeface="Arial" pitchFamily="34" charset="0"/>
                <a:ea typeface="Arial" pitchFamily="34" charset="-122"/>
                <a:cs typeface="Arial" pitchFamily="34" charset="-120"/>
              </a:rPr>
              <a:t>XIN TRÂN TRỌNG CẢM ƠN QUÝ THẦY CÔ!</a:t>
            </a:r>
            <a:endParaRPr lang="en-US" sz="1600" dirty="0"/>
          </a:p>
          <a:p>
            <a:pPr marL="0" indent="0" algn="ctr">
              <a:buNone/>
            </a:pPr>
            <a:r>
              <a:rPr lang="en-US" sz="1600" b="1" dirty="0">
                <a:solidFill>
                  <a:srgbClr val="38BDF8"/>
                </a:solidFill>
                <a:latin typeface="Arial" pitchFamily="34" charset="0"/>
                <a:ea typeface="Arial" pitchFamily="34" charset="-122"/>
                <a:cs typeface="Arial" pitchFamily="34" charset="-120"/>
              </a:rPr>
              <a:t>Kính mong nhận được ý kiến đóng góp của Hội đồng.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1692</Words>
  <Application>Microsoft Office PowerPoint</Application>
  <PresentationFormat>On-screen Show (16:9)</PresentationFormat>
  <Paragraphs>179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Thang Máy Hà Hồng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Seminar 1 - Phạm Khắc Khải</dc:title>
  <dc:subject>Báo cáo Seminar 1</dc:subject>
  <dc:creator>Phạm Khắc Khải</dc:creator>
  <cp:lastModifiedBy>Admin</cp:lastModifiedBy>
  <cp:revision>2</cp:revision>
  <dcterms:created xsi:type="dcterms:W3CDTF">2026-10-02T16:23:39Z</dcterms:created>
  <dcterms:modified xsi:type="dcterms:W3CDTF">2026-10-02T16:25:42Z</dcterms:modified>
</cp:coreProperties>
</file>